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7" d="100"/>
          <a:sy n="27" d="100"/>
        </p:scale>
        <p:origin x="100" y="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0668" y="194733"/>
            <a:ext cx="16107410" cy="15946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456" y="3540830"/>
            <a:ext cx="15374619" cy="359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384" y="9455853"/>
            <a:ext cx="1235709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13" Type="http://schemas.openxmlformats.org/officeDocument/2006/relationships/image" Target="../media/image25.jpg"/><Relationship Id="rId18" Type="http://schemas.openxmlformats.org/officeDocument/2006/relationships/image" Target="../media/image3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12" Type="http://schemas.openxmlformats.org/officeDocument/2006/relationships/image" Target="../media/image24.jpg"/><Relationship Id="rId17" Type="http://schemas.openxmlformats.org/officeDocument/2006/relationships/image" Target="../media/image29.jpg"/><Relationship Id="rId2" Type="http://schemas.openxmlformats.org/officeDocument/2006/relationships/image" Target="../media/image14.png"/><Relationship Id="rId16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11" Type="http://schemas.openxmlformats.org/officeDocument/2006/relationships/image" Target="../media/image23.jpg"/><Relationship Id="rId5" Type="http://schemas.openxmlformats.org/officeDocument/2006/relationships/image" Target="../media/image17.jpg"/><Relationship Id="rId15" Type="http://schemas.openxmlformats.org/officeDocument/2006/relationships/image" Target="../media/image27.jpg"/><Relationship Id="rId10" Type="http://schemas.openxmlformats.org/officeDocument/2006/relationships/image" Target="../media/image22.jpg"/><Relationship Id="rId4" Type="http://schemas.openxmlformats.org/officeDocument/2006/relationships/image" Target="../media/image16.jpg"/><Relationship Id="rId9" Type="http://schemas.openxmlformats.org/officeDocument/2006/relationships/image" Target="../media/image21.jpg"/><Relationship Id="rId1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13" Type="http://schemas.openxmlformats.org/officeDocument/2006/relationships/image" Target="../media/image52.jpg"/><Relationship Id="rId3" Type="http://schemas.openxmlformats.org/officeDocument/2006/relationships/image" Target="../media/image42.jpg"/><Relationship Id="rId7" Type="http://schemas.openxmlformats.org/officeDocument/2006/relationships/image" Target="../media/image46.jpg"/><Relationship Id="rId12" Type="http://schemas.openxmlformats.org/officeDocument/2006/relationships/image" Target="../media/image51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11" Type="http://schemas.openxmlformats.org/officeDocument/2006/relationships/image" Target="../media/image50.jpg"/><Relationship Id="rId5" Type="http://schemas.openxmlformats.org/officeDocument/2006/relationships/image" Target="../media/image44.png"/><Relationship Id="rId10" Type="http://schemas.openxmlformats.org/officeDocument/2006/relationships/image" Target="../media/image49.jpg"/><Relationship Id="rId4" Type="http://schemas.openxmlformats.org/officeDocument/2006/relationships/image" Target="../media/image43.jp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3492500"/>
            <a:ext cx="12204700" cy="5080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05054" y="620888"/>
            <a:ext cx="604202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85" dirty="0">
                <a:solidFill>
                  <a:srgbClr val="0F0F0F"/>
                </a:solidFill>
              </a:rPr>
              <a:t>From</a:t>
            </a:r>
            <a:r>
              <a:rPr sz="4850" spc="-105" dirty="0">
                <a:solidFill>
                  <a:srgbClr val="0F0F0F"/>
                </a:solidFill>
              </a:rPr>
              <a:t> </a:t>
            </a:r>
            <a:r>
              <a:rPr sz="4850" spc="-185" dirty="0">
                <a:solidFill>
                  <a:srgbClr val="0F0F0F"/>
                </a:solidFill>
              </a:rPr>
              <a:t>Memory</a:t>
            </a:r>
            <a:r>
              <a:rPr sz="4850" spc="-80" dirty="0">
                <a:solidFill>
                  <a:srgbClr val="0F0F0F"/>
                </a:solidFill>
              </a:rPr>
              <a:t> </a:t>
            </a:r>
            <a:r>
              <a:rPr sz="4850" dirty="0">
                <a:solidFill>
                  <a:srgbClr val="0E0E0E"/>
                </a:solidFill>
              </a:rPr>
              <a:t>to</a:t>
            </a:r>
            <a:r>
              <a:rPr sz="4850" spc="-170" dirty="0">
                <a:solidFill>
                  <a:srgbClr val="0E0E0E"/>
                </a:solidFill>
              </a:rPr>
              <a:t> </a:t>
            </a:r>
            <a:r>
              <a:rPr sz="4850" spc="-195" dirty="0"/>
              <a:t>Models:</a:t>
            </a:r>
            <a:endParaRPr sz="4850"/>
          </a:p>
        </p:txBody>
      </p:sp>
      <p:sp>
        <p:nvSpPr>
          <p:cNvPr id="4" name="object 4"/>
          <p:cNvSpPr txBox="1"/>
          <p:nvPr/>
        </p:nvSpPr>
        <p:spPr>
          <a:xfrm>
            <a:off x="1704618" y="946426"/>
            <a:ext cx="14061440" cy="1640205"/>
          </a:xfrm>
          <a:prstGeom prst="rect">
            <a:avLst/>
          </a:prstGeom>
        </p:spPr>
        <p:txBody>
          <a:bodyPr vert="horz" wrap="square" lIns="0" tIns="354965" rIns="0" bIns="0" rtlCol="0">
            <a:spAutoFit/>
          </a:bodyPr>
          <a:lstStyle/>
          <a:p>
            <a:pPr marR="20320" algn="ctr">
              <a:lnSpc>
                <a:spcPct val="100000"/>
              </a:lnSpc>
              <a:spcBef>
                <a:spcPts val="2795"/>
              </a:spcBef>
            </a:pPr>
            <a:r>
              <a:rPr sz="4500" spc="-70" dirty="0">
                <a:latin typeface="Times New Roman"/>
                <a:cs typeface="Times New Roman"/>
              </a:rPr>
              <a:t>The</a:t>
            </a:r>
            <a:r>
              <a:rPr sz="4500" spc="-215" dirty="0">
                <a:latin typeface="Times New Roman"/>
                <a:cs typeface="Times New Roman"/>
              </a:rPr>
              <a:t> </a:t>
            </a:r>
            <a:r>
              <a:rPr sz="4500" spc="-120" dirty="0">
                <a:latin typeface="Times New Roman"/>
                <a:cs typeface="Times New Roman"/>
              </a:rPr>
              <a:t>Evolution</a:t>
            </a:r>
            <a:r>
              <a:rPr sz="4500" spc="-95" dirty="0">
                <a:latin typeface="Times New Roman"/>
                <a:cs typeface="Times New Roman"/>
              </a:rPr>
              <a:t> </a:t>
            </a:r>
            <a:r>
              <a:rPr sz="4500" spc="-300" dirty="0">
                <a:solidFill>
                  <a:srgbClr val="0A0A0A"/>
                </a:solidFill>
                <a:latin typeface="Times New Roman"/>
                <a:cs typeface="Times New Roman"/>
              </a:rPr>
              <a:t>of</a:t>
            </a:r>
            <a:r>
              <a:rPr sz="4500" spc="20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4500" spc="-110" dirty="0">
                <a:latin typeface="Times New Roman"/>
                <a:cs typeface="Times New Roman"/>
              </a:rPr>
              <a:t>Energy-</a:t>
            </a:r>
            <a:r>
              <a:rPr sz="4500" dirty="0">
                <a:latin typeface="Times New Roman"/>
                <a:cs typeface="Times New Roman"/>
              </a:rPr>
              <a:t>Based</a:t>
            </a:r>
            <a:r>
              <a:rPr sz="4500" spc="195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Networks</a:t>
            </a:r>
            <a:endParaRPr sz="4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50"/>
              </a:spcBef>
              <a:tabLst>
                <a:tab pos="4452620" algn="l"/>
                <a:tab pos="5528310" algn="l"/>
                <a:tab pos="6681470" algn="l"/>
                <a:tab pos="10196195" algn="l"/>
                <a:tab pos="11370310" algn="l"/>
                <a:tab pos="12792710" algn="l"/>
              </a:tabLst>
            </a:pPr>
            <a:r>
              <a:rPr sz="2550" spc="-25" dirty="0">
                <a:latin typeface="Times New Roman"/>
                <a:cs typeface="Times New Roman"/>
              </a:rPr>
              <a:t>The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spc="-90" dirty="0">
                <a:latin typeface="Times New Roman"/>
                <a:cs typeface="Times New Roman"/>
              </a:rPr>
              <a:t>journey</a:t>
            </a:r>
            <a:r>
              <a:rPr sz="2550" spc="-15" dirty="0">
                <a:latin typeface="Times New Roman"/>
                <a:cs typeface="Times New Roman"/>
              </a:rPr>
              <a:t> </a:t>
            </a:r>
            <a:r>
              <a:rPr sz="2550" spc="-85" dirty="0">
                <a:latin typeface="Times New Roman"/>
                <a:cs typeface="Times New Roman"/>
              </a:rPr>
              <a:t>from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-16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deterministic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80" dirty="0">
                <a:latin typeface="Times New Roman"/>
                <a:cs typeface="Times New Roman"/>
              </a:rPr>
              <a:t>recall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spc="-280" dirty="0">
                <a:latin typeface="Times New Roman"/>
                <a:cs typeface="Times New Roman"/>
              </a:rPr>
              <a:t>of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Hopfield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80" dirty="0">
                <a:latin typeface="Times New Roman"/>
                <a:cs typeface="Times New Roman"/>
              </a:rPr>
              <a:t>Networks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-8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 </a:t>
            </a:r>
            <a:r>
              <a:rPr sz="2550" spc="-10" dirty="0">
                <a:latin typeface="Times New Roman"/>
                <a:cs typeface="Times New Roman"/>
              </a:rPr>
              <a:t>generative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75" dirty="0">
                <a:latin typeface="Times New Roman"/>
                <a:cs typeface="Times New Roman"/>
              </a:rPr>
              <a:t>power</a:t>
            </a:r>
            <a:r>
              <a:rPr sz="2550" spc="-80" dirty="0">
                <a:latin typeface="Times New Roman"/>
                <a:cs typeface="Times New Roman"/>
              </a:rPr>
              <a:t> </a:t>
            </a:r>
            <a:r>
              <a:rPr sz="2550" spc="-280" dirty="0">
                <a:latin typeface="Times New Roman"/>
                <a:cs typeface="Times New Roman"/>
              </a:rPr>
              <a:t>of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Boltzmann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75" dirty="0">
                <a:latin typeface="Times New Roman"/>
                <a:cs typeface="Times New Roman"/>
              </a:rPr>
              <a:t>Machines.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0631" y="3401483"/>
            <a:ext cx="2454275" cy="751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98500">
              <a:lnSpc>
                <a:spcPts val="1964"/>
              </a:lnSpc>
              <a:spcBef>
                <a:spcPts val="114"/>
              </a:spcBef>
            </a:pPr>
            <a:r>
              <a:rPr sz="1650" spc="-195" dirty="0">
                <a:latin typeface="Times New Roman"/>
                <a:cs typeface="Times New Roman"/>
              </a:rPr>
              <a:t>HOPFIELD</a:t>
            </a:r>
            <a:r>
              <a:rPr sz="1650" spc="120" dirty="0">
                <a:latin typeface="Times New Roman"/>
                <a:cs typeface="Times New Roman"/>
              </a:rPr>
              <a:t> </a:t>
            </a:r>
            <a:r>
              <a:rPr sz="1650" spc="-275" dirty="0">
                <a:latin typeface="Times New Roman"/>
                <a:cs typeface="Times New Roman"/>
              </a:rPr>
              <a:t>NETWORK</a:t>
            </a:r>
            <a:endParaRPr sz="1650">
              <a:latin typeface="Times New Roman"/>
              <a:cs typeface="Times New Roman"/>
            </a:endParaRPr>
          </a:p>
          <a:p>
            <a:pPr marL="12700" marR="5080" indent="838200">
              <a:lnSpc>
                <a:spcPts val="1700"/>
              </a:lnSpc>
              <a:spcBef>
                <a:spcPts val="325"/>
              </a:spcBef>
            </a:pPr>
            <a:r>
              <a:rPr sz="1700" spc="-85" dirty="0">
                <a:latin typeface="Times New Roman"/>
                <a:cs typeface="Times New Roman"/>
              </a:rPr>
              <a:t>Deterministic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spc="-95" dirty="0">
                <a:latin typeface="Times New Roman"/>
                <a:cs typeface="Times New Roman"/>
              </a:rPr>
              <a:t>Recall </a:t>
            </a:r>
            <a:r>
              <a:rPr sz="1700" spc="-140" dirty="0">
                <a:solidFill>
                  <a:srgbClr val="0F0F0F"/>
                </a:solidFill>
                <a:latin typeface="Times New Roman"/>
                <a:cs typeface="Times New Roman"/>
              </a:rPr>
              <a:t>Rigid,</a:t>
            </a:r>
            <a:r>
              <a:rPr sz="1700" spc="4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131313"/>
                </a:solidFill>
                <a:latin typeface="Times New Roman"/>
                <a:cs typeface="Times New Roman"/>
              </a:rPr>
              <a:t>Discrete</a:t>
            </a:r>
            <a:r>
              <a:rPr sz="1700" spc="7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700" spc="-145" dirty="0">
                <a:solidFill>
                  <a:srgbClr val="0E0E0E"/>
                </a:solidFill>
                <a:latin typeface="Times New Roman"/>
                <a:cs typeface="Times New Roman"/>
              </a:rPr>
              <a:t>Memory</a:t>
            </a:r>
            <a:r>
              <a:rPr sz="1700" spc="35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40662" y="7842602"/>
            <a:ext cx="2765425" cy="73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1600" spc="-195" dirty="0">
                <a:latin typeface="Times New Roman"/>
                <a:cs typeface="Times New Roman"/>
              </a:rPr>
              <a:t>BOLTZMANN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75" dirty="0">
                <a:latin typeface="Times New Roman"/>
                <a:cs typeface="Times New Roman"/>
              </a:rPr>
              <a:t>MACHINE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10"/>
              </a:lnSpc>
              <a:spcBef>
                <a:spcPts val="80"/>
              </a:spcBef>
            </a:pPr>
            <a:r>
              <a:rPr sz="1600" spc="-20" dirty="0">
                <a:latin typeface="Times New Roman"/>
                <a:cs typeface="Times New Roman"/>
              </a:rPr>
              <a:t>Generative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Power</a:t>
            </a:r>
            <a:endParaRPr sz="1600">
              <a:latin typeface="Times New Roman"/>
              <a:cs typeface="Times New Roman"/>
            </a:endParaRPr>
          </a:p>
          <a:p>
            <a:pPr marL="15875">
              <a:lnSpc>
                <a:spcPts val="1810"/>
              </a:lnSpc>
            </a:pPr>
            <a:r>
              <a:rPr sz="1600" spc="-25" dirty="0">
                <a:latin typeface="Times New Roman"/>
                <a:cs typeface="Times New Roman"/>
              </a:rPr>
              <a:t>Probabilistic,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70" dirty="0">
                <a:latin typeface="Times New Roman"/>
                <a:cs typeface="Times New Roman"/>
              </a:rPr>
              <a:t>Dynamic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45" dirty="0">
                <a:solidFill>
                  <a:srgbClr val="0C0C0C"/>
                </a:solidFill>
                <a:latin typeface="Times New Roman"/>
                <a:cs typeface="Times New Roman"/>
              </a:rPr>
              <a:t>Point</a:t>
            </a:r>
            <a:r>
              <a:rPr sz="16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600" spc="-55" dirty="0">
                <a:latin typeface="Times New Roman"/>
                <a:cs typeface="Times New Roman"/>
              </a:rPr>
              <a:t>Cloud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13746" y="9413522"/>
            <a:ext cx="121412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Times New Roman"/>
                <a:cs typeface="Times New Roman"/>
              </a:rPr>
              <a:t>W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spc="-85" dirty="0">
                <a:latin typeface="Times New Roman"/>
                <a:cs typeface="Times New Roman"/>
              </a:rPr>
              <a:t>NotebookLM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2120900"/>
            <a:ext cx="10020300" cy="5816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413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z="5900" spc="-70" dirty="0">
                <a:solidFill>
                  <a:srgbClr val="3B3B3B"/>
                </a:solidFill>
              </a:rPr>
              <a:t>The</a:t>
            </a:r>
            <a:r>
              <a:rPr sz="5900" spc="-300" dirty="0">
                <a:solidFill>
                  <a:srgbClr val="3B3B3B"/>
                </a:solidFill>
              </a:rPr>
              <a:t> </a:t>
            </a:r>
            <a:r>
              <a:rPr sz="5900" spc="-45" dirty="0">
                <a:solidFill>
                  <a:srgbClr val="3D3D3D"/>
                </a:solidFill>
              </a:rPr>
              <a:t>Core</a:t>
            </a:r>
            <a:r>
              <a:rPr sz="5900" spc="-235" dirty="0">
                <a:solidFill>
                  <a:srgbClr val="3D3D3D"/>
                </a:solidFill>
              </a:rPr>
              <a:t> </a:t>
            </a:r>
            <a:r>
              <a:rPr sz="5900" spc="-95" dirty="0">
                <a:solidFill>
                  <a:srgbClr val="3A3A3A"/>
                </a:solidFill>
              </a:rPr>
              <a:t>Idea:</a:t>
            </a:r>
            <a:r>
              <a:rPr sz="5900" spc="-275" dirty="0">
                <a:solidFill>
                  <a:srgbClr val="3A3A3A"/>
                </a:solidFill>
              </a:rPr>
              <a:t> </a:t>
            </a:r>
            <a:r>
              <a:rPr sz="5900" spc="-55" dirty="0">
                <a:solidFill>
                  <a:srgbClr val="383838"/>
                </a:solidFill>
              </a:rPr>
              <a:t>Computation</a:t>
            </a:r>
            <a:r>
              <a:rPr sz="5900" spc="110" dirty="0">
                <a:solidFill>
                  <a:srgbClr val="383838"/>
                </a:solidFill>
              </a:rPr>
              <a:t> </a:t>
            </a:r>
            <a:r>
              <a:rPr sz="5900" dirty="0">
                <a:solidFill>
                  <a:srgbClr val="343434"/>
                </a:solidFill>
              </a:rPr>
              <a:t>as</a:t>
            </a:r>
            <a:r>
              <a:rPr sz="5900" spc="-305" dirty="0">
                <a:solidFill>
                  <a:srgbClr val="343434"/>
                </a:solidFill>
              </a:rPr>
              <a:t> </a:t>
            </a:r>
            <a:r>
              <a:rPr sz="5900" dirty="0">
                <a:solidFill>
                  <a:srgbClr val="3D3D3D"/>
                </a:solidFill>
              </a:rPr>
              <a:t>an</a:t>
            </a:r>
            <a:r>
              <a:rPr sz="5900" spc="-225" dirty="0">
                <a:solidFill>
                  <a:srgbClr val="3D3D3D"/>
                </a:solidFill>
              </a:rPr>
              <a:t> </a:t>
            </a:r>
            <a:r>
              <a:rPr sz="5900" spc="-135" dirty="0">
                <a:solidFill>
                  <a:srgbClr val="363636"/>
                </a:solidFill>
              </a:rPr>
              <a:t>Energy</a:t>
            </a:r>
            <a:r>
              <a:rPr sz="5900" spc="-175" dirty="0">
                <a:solidFill>
                  <a:srgbClr val="363636"/>
                </a:solidFill>
              </a:rPr>
              <a:t> </a:t>
            </a:r>
            <a:r>
              <a:rPr sz="5900" spc="-130" dirty="0">
                <a:solidFill>
                  <a:srgbClr val="383838"/>
                </a:solidFill>
              </a:rPr>
              <a:t>Landscape</a:t>
            </a:r>
            <a:endParaRPr sz="590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6825" y="1880658"/>
            <a:ext cx="5440045" cy="6978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970" marR="135890" indent="10160">
              <a:lnSpc>
                <a:spcPct val="104099"/>
              </a:lnSpc>
              <a:spcBef>
                <a:spcPts val="125"/>
              </a:spcBef>
            </a:pPr>
            <a:r>
              <a:rPr sz="2300" spc="-25" dirty="0">
                <a:latin typeface="Arial MT"/>
                <a:cs typeface="Arial MT"/>
              </a:rPr>
              <a:t>Both</a:t>
            </a:r>
            <a:r>
              <a:rPr sz="2300" spc="-13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Hopfield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Networks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and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Boltzmann </a:t>
            </a:r>
            <a:r>
              <a:rPr sz="2300" spc="-45" dirty="0">
                <a:latin typeface="Arial MT"/>
                <a:cs typeface="Arial MT"/>
              </a:rPr>
              <a:t>Machines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operate</a:t>
            </a:r>
            <a:r>
              <a:rPr sz="2300" spc="-1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on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145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shared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principle: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320" dirty="0">
                <a:latin typeface="Arial MT"/>
                <a:cs typeface="Arial MT"/>
              </a:rPr>
              <a:t>a </a:t>
            </a:r>
            <a:r>
              <a:rPr sz="2350" spc="-30" dirty="0">
                <a:latin typeface="Arial MT"/>
                <a:cs typeface="Arial MT"/>
              </a:rPr>
              <a:t>global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"energy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function."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75" dirty="0">
                <a:latin typeface="Arial MT"/>
                <a:cs typeface="Arial MT"/>
              </a:rPr>
              <a:t>Every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possible </a:t>
            </a:r>
            <a:r>
              <a:rPr sz="2400" spc="-50" dirty="0">
                <a:latin typeface="Arial MT"/>
                <a:cs typeface="Arial MT"/>
              </a:rPr>
              <a:t>configuration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network's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 </a:t>
            </a:r>
            <a:r>
              <a:rPr sz="2350" spc="-40" dirty="0">
                <a:latin typeface="Arial MT"/>
                <a:cs typeface="Arial MT"/>
              </a:rPr>
              <a:t>corresponds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-12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specific</a:t>
            </a:r>
            <a:r>
              <a:rPr sz="2350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energy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level, </a:t>
            </a:r>
            <a:r>
              <a:rPr sz="2350" spc="-20" dirty="0">
                <a:latin typeface="Arial MT"/>
                <a:cs typeface="Arial MT"/>
              </a:rPr>
              <a:t>creating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290" dirty="0">
                <a:latin typeface="Arial MT"/>
                <a:cs typeface="Arial MT"/>
              </a:rPr>
              <a:t>a</a:t>
            </a:r>
            <a:r>
              <a:rPr sz="2350" spc="130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vast,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multi-</a:t>
            </a:r>
            <a:r>
              <a:rPr sz="2350" spc="-10" dirty="0">
                <a:latin typeface="Arial MT"/>
                <a:cs typeface="Arial MT"/>
              </a:rPr>
              <a:t>dimensional landscape.</a:t>
            </a:r>
            <a:endParaRPr sz="2350" dirty="0">
              <a:latin typeface="Arial MT"/>
              <a:cs typeface="Arial MT"/>
            </a:endParaRPr>
          </a:p>
          <a:p>
            <a:pPr marL="12700" marR="567055" indent="13335">
              <a:lnSpc>
                <a:spcPts val="2950"/>
              </a:lnSpc>
              <a:spcBef>
                <a:spcPts val="1670"/>
              </a:spcBef>
              <a:tabLst>
                <a:tab pos="2447290" algn="l"/>
              </a:tabLst>
            </a:pPr>
            <a:r>
              <a:rPr sz="2400" spc="-13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network's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primary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goal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375" dirty="0">
                <a:latin typeface="Arial MT"/>
                <a:cs typeface="Arial MT"/>
              </a:rPr>
              <a:t>a </a:t>
            </a:r>
            <a:r>
              <a:rPr sz="2550" spc="-145" dirty="0">
                <a:latin typeface="Arial MT"/>
                <a:cs typeface="Arial MT"/>
              </a:rPr>
              <a:t>low-</a:t>
            </a:r>
            <a:r>
              <a:rPr sz="2550" spc="-110" dirty="0">
                <a:latin typeface="Arial MT"/>
                <a:cs typeface="Arial MT"/>
              </a:rPr>
              <a:t>energy</a:t>
            </a:r>
            <a:r>
              <a:rPr sz="2550" spc="-40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stat</a:t>
            </a:r>
            <a:r>
              <a:rPr sz="2550" dirty="0">
                <a:latin typeface="Arial MT"/>
                <a:cs typeface="Arial MT"/>
              </a:rPr>
              <a:t>	</a:t>
            </a:r>
            <a:r>
              <a:rPr sz="2550" spc="-285" dirty="0">
                <a:latin typeface="Arial MT"/>
                <a:cs typeface="Arial MT"/>
              </a:rPr>
              <a:t>a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-170" dirty="0">
                <a:latin typeface="Arial MT"/>
                <a:cs typeface="Arial MT"/>
              </a:rPr>
              <a:t>valley</a:t>
            </a:r>
            <a:r>
              <a:rPr sz="2550" spc="35" dirty="0">
                <a:latin typeface="Arial MT"/>
                <a:cs typeface="Arial MT"/>
              </a:rPr>
              <a:t> </a:t>
            </a:r>
            <a:r>
              <a:rPr sz="2550" spc="-110" dirty="0">
                <a:latin typeface="Arial MT"/>
                <a:cs typeface="Arial MT"/>
              </a:rPr>
              <a:t>in</a:t>
            </a:r>
            <a:r>
              <a:rPr sz="2550" spc="-16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this </a:t>
            </a:r>
            <a:r>
              <a:rPr sz="2500" spc="-50" dirty="0">
                <a:latin typeface="Arial MT"/>
                <a:cs typeface="Arial MT"/>
              </a:rPr>
              <a:t>landscape.</a:t>
            </a:r>
            <a:endParaRPr sz="2500" dirty="0">
              <a:latin typeface="Arial MT"/>
              <a:cs typeface="Arial MT"/>
            </a:endParaRPr>
          </a:p>
          <a:p>
            <a:pPr marL="22860" marR="5080" indent="2540">
              <a:lnSpc>
                <a:spcPct val="102400"/>
              </a:lnSpc>
              <a:spcBef>
                <a:spcPts val="1495"/>
              </a:spcBef>
              <a:tabLst>
                <a:tab pos="1414145" algn="l"/>
              </a:tabLst>
            </a:pPr>
            <a:r>
              <a:rPr sz="2400" spc="-13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process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computation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is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the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process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moving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65" dirty="0">
                <a:latin typeface="Arial MT"/>
                <a:cs typeface="Arial MT"/>
              </a:rPr>
              <a:t>’downhill"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surface.</a:t>
            </a:r>
            <a:endParaRPr sz="2400" dirty="0">
              <a:latin typeface="Arial MT"/>
              <a:cs typeface="Arial MT"/>
            </a:endParaRPr>
          </a:p>
          <a:p>
            <a:pPr marL="19685" marR="42545" indent="13970">
              <a:lnSpc>
                <a:spcPct val="90200"/>
              </a:lnSpc>
              <a:spcBef>
                <a:spcPts val="1725"/>
              </a:spcBef>
            </a:pPr>
            <a:r>
              <a:rPr sz="2600" spc="-305" dirty="0">
                <a:latin typeface="Arial MT"/>
                <a:cs typeface="Arial MT"/>
              </a:rPr>
              <a:t>As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spc="-155" dirty="0">
                <a:latin typeface="Arial MT"/>
                <a:cs typeface="Arial MT"/>
              </a:rPr>
              <a:t>stated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65" dirty="0">
                <a:latin typeface="Arial MT"/>
                <a:cs typeface="Arial MT"/>
              </a:rPr>
              <a:t>by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25" dirty="0">
                <a:latin typeface="Arial MT"/>
                <a:cs typeface="Arial MT"/>
              </a:rPr>
              <a:t>John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60" dirty="0">
                <a:latin typeface="Arial MT"/>
                <a:cs typeface="Arial MT"/>
              </a:rPr>
              <a:t>Hopfield,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if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750" spc="-254" dirty="0">
                <a:latin typeface="Arial MT"/>
                <a:cs typeface="Arial MT"/>
              </a:rPr>
              <a:t>connections</a:t>
            </a:r>
            <a:r>
              <a:rPr sz="2750" spc="60" dirty="0">
                <a:latin typeface="Arial MT"/>
                <a:cs typeface="Arial MT"/>
              </a:rPr>
              <a:t> </a:t>
            </a:r>
            <a:r>
              <a:rPr sz="2750" spc="-290" dirty="0">
                <a:latin typeface="Arial MT"/>
                <a:cs typeface="Arial MT"/>
              </a:rPr>
              <a:t>between</a:t>
            </a:r>
            <a:r>
              <a:rPr sz="2750" spc="50" dirty="0">
                <a:latin typeface="Arial MT"/>
                <a:cs typeface="Arial MT"/>
              </a:rPr>
              <a:t> </a:t>
            </a:r>
            <a:r>
              <a:rPr sz="2750" spc="-235" dirty="0">
                <a:latin typeface="Arial MT"/>
                <a:cs typeface="Arial MT"/>
              </a:rPr>
              <a:t>units</a:t>
            </a:r>
            <a:r>
              <a:rPr sz="2750" spc="35" dirty="0">
                <a:latin typeface="Arial MT"/>
                <a:cs typeface="Arial MT"/>
              </a:rPr>
              <a:t> </a:t>
            </a:r>
            <a:r>
              <a:rPr sz="2750" spc="-295" dirty="0">
                <a:latin typeface="Arial MT"/>
                <a:cs typeface="Arial MT"/>
              </a:rPr>
              <a:t>are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spc="-270" dirty="0">
                <a:latin typeface="Arial MT"/>
                <a:cs typeface="Arial MT"/>
              </a:rPr>
              <a:t>symmetric, </a:t>
            </a:r>
            <a:r>
              <a:rPr sz="2700" spc="-170" dirty="0">
                <a:latin typeface="Arial MT"/>
                <a:cs typeface="Arial MT"/>
              </a:rPr>
              <a:t>this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240" dirty="0">
                <a:latin typeface="Arial MT"/>
                <a:cs typeface="Arial MT"/>
              </a:rPr>
              <a:t>global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265" dirty="0">
                <a:latin typeface="Arial MT"/>
                <a:cs typeface="Arial MT"/>
              </a:rPr>
              <a:t>energy</a:t>
            </a:r>
            <a:r>
              <a:rPr sz="2700" spc="140" dirty="0">
                <a:latin typeface="Arial MT"/>
                <a:cs typeface="Arial MT"/>
              </a:rPr>
              <a:t> </a:t>
            </a:r>
            <a:r>
              <a:rPr sz="2700" spc="-195" dirty="0">
                <a:latin typeface="Arial MT"/>
                <a:cs typeface="Arial MT"/>
              </a:rPr>
              <a:t>function</a:t>
            </a:r>
            <a:r>
              <a:rPr sz="2700" spc="45" dirty="0">
                <a:latin typeface="Arial MT"/>
                <a:cs typeface="Arial MT"/>
              </a:rPr>
              <a:t> </a:t>
            </a:r>
            <a:r>
              <a:rPr sz="2700" spc="-185" dirty="0">
                <a:latin typeface="Arial MT"/>
                <a:cs typeface="Arial MT"/>
              </a:rPr>
              <a:t>is</a:t>
            </a:r>
            <a:r>
              <a:rPr sz="2700" spc="-45" dirty="0">
                <a:latin typeface="Arial MT"/>
                <a:cs typeface="Arial MT"/>
              </a:rPr>
              <a:t> </a:t>
            </a:r>
            <a:r>
              <a:rPr sz="2700" spc="-275" dirty="0">
                <a:latin typeface="Arial MT"/>
                <a:cs typeface="Arial MT"/>
              </a:rPr>
              <a:t>guaranteed </a:t>
            </a:r>
            <a:r>
              <a:rPr sz="2700" spc="-145" dirty="0">
                <a:latin typeface="Arial MT"/>
                <a:cs typeface="Arial MT"/>
              </a:rPr>
              <a:t>to</a:t>
            </a:r>
            <a:r>
              <a:rPr sz="2700" spc="-190" dirty="0">
                <a:latin typeface="Arial MT"/>
                <a:cs typeface="Arial MT"/>
              </a:rPr>
              <a:t> exist,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290" dirty="0">
                <a:latin typeface="Arial MT"/>
                <a:cs typeface="Arial MT"/>
              </a:rPr>
              <a:t>and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175" dirty="0">
                <a:latin typeface="Arial MT"/>
                <a:cs typeface="Arial MT"/>
              </a:rPr>
              <a:t>the</a:t>
            </a:r>
            <a:r>
              <a:rPr sz="2700" spc="-160" dirty="0">
                <a:latin typeface="Arial MT"/>
                <a:cs typeface="Arial MT"/>
              </a:rPr>
              <a:t> </a:t>
            </a:r>
            <a:r>
              <a:rPr sz="2700" spc="-215" dirty="0">
                <a:latin typeface="Arial MT"/>
                <a:cs typeface="Arial MT"/>
              </a:rPr>
              <a:t>network</a:t>
            </a:r>
            <a:r>
              <a:rPr sz="2700" spc="150" dirty="0">
                <a:latin typeface="Arial MT"/>
                <a:cs typeface="Arial MT"/>
              </a:rPr>
              <a:t> </a:t>
            </a:r>
            <a:r>
              <a:rPr sz="2700" spc="-150" dirty="0">
                <a:latin typeface="Arial MT"/>
                <a:cs typeface="Arial MT"/>
              </a:rPr>
              <a:t>will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275" dirty="0">
                <a:latin typeface="Arial MT"/>
                <a:cs typeface="Arial MT"/>
              </a:rPr>
              <a:t>always</a:t>
            </a:r>
            <a:endParaRPr sz="2700" dirty="0">
              <a:latin typeface="Arial MT"/>
              <a:cs typeface="Arial MT"/>
            </a:endParaRPr>
          </a:p>
          <a:p>
            <a:pPr marL="22225">
              <a:lnSpc>
                <a:spcPts val="2960"/>
              </a:lnSpc>
            </a:pPr>
            <a:r>
              <a:rPr sz="2750" spc="-200" dirty="0">
                <a:latin typeface="Arial MT"/>
                <a:cs typeface="Arial MT"/>
              </a:rPr>
              <a:t>settle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spc="-160" dirty="0">
                <a:latin typeface="Arial MT"/>
                <a:cs typeface="Arial MT"/>
              </a:rPr>
              <a:t>to</a:t>
            </a:r>
            <a:r>
              <a:rPr sz="2750" spc="-195" dirty="0">
                <a:latin typeface="Arial MT"/>
                <a:cs typeface="Arial MT"/>
              </a:rPr>
              <a:t> </a:t>
            </a:r>
            <a:r>
              <a:rPr sz="2750" spc="-340" dirty="0">
                <a:latin typeface="Arial MT"/>
                <a:cs typeface="Arial MT"/>
              </a:rPr>
              <a:t>an</a:t>
            </a:r>
            <a:r>
              <a:rPr sz="2750" spc="-20" dirty="0">
                <a:latin typeface="Arial MT"/>
                <a:cs typeface="Arial MT"/>
              </a:rPr>
              <a:t> </a:t>
            </a:r>
            <a:r>
              <a:rPr sz="2750" spc="-295" dirty="0">
                <a:latin typeface="Arial MT"/>
                <a:cs typeface="Arial MT"/>
              </a:rPr>
              <a:t>energy</a:t>
            </a:r>
            <a:r>
              <a:rPr sz="2750" spc="65" dirty="0">
                <a:latin typeface="Arial MT"/>
                <a:cs typeface="Arial MT"/>
              </a:rPr>
              <a:t> </a:t>
            </a:r>
            <a:r>
              <a:rPr sz="2750" spc="-345" dirty="0">
                <a:latin typeface="Arial MT"/>
                <a:cs typeface="Arial MT"/>
              </a:rPr>
              <a:t>minimum.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59993" y="1908527"/>
            <a:ext cx="2334895" cy="6692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8255">
              <a:lnSpc>
                <a:spcPts val="2400"/>
              </a:lnSpc>
              <a:spcBef>
                <a:spcPts val="400"/>
              </a:spcBef>
            </a:pPr>
            <a:r>
              <a:rPr sz="2200" spc="-90" dirty="0">
                <a:latin typeface="Arial MT"/>
                <a:cs typeface="Arial MT"/>
              </a:rPr>
              <a:t>Computation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Origin: </a:t>
            </a:r>
            <a:r>
              <a:rPr sz="2200" spc="-80" dirty="0">
                <a:latin typeface="Arial MT"/>
                <a:cs typeface="Arial MT"/>
              </a:rPr>
              <a:t>High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Energy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08785" y="3130197"/>
            <a:ext cx="2103120" cy="6648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2225" marR="5080" indent="-10160">
              <a:lnSpc>
                <a:spcPts val="2450"/>
              </a:lnSpc>
              <a:spcBef>
                <a:spcPts val="290"/>
              </a:spcBef>
            </a:pPr>
            <a:r>
              <a:rPr sz="2150" spc="-65" dirty="0">
                <a:latin typeface="Arial MT"/>
                <a:cs typeface="Arial MT"/>
              </a:rPr>
              <a:t>Computation</a:t>
            </a:r>
            <a:r>
              <a:rPr sz="2150" spc="-20" dirty="0">
                <a:latin typeface="Arial MT"/>
                <a:cs typeface="Arial MT"/>
              </a:rPr>
              <a:t> </a:t>
            </a:r>
            <a:r>
              <a:rPr sz="2150" spc="-55" dirty="0">
                <a:latin typeface="Arial MT"/>
                <a:cs typeface="Arial MT"/>
              </a:rPr>
              <a:t>Path </a:t>
            </a:r>
            <a:r>
              <a:rPr sz="2150" spc="-204" dirty="0">
                <a:latin typeface="Arial MT"/>
                <a:cs typeface="Arial MT"/>
              </a:rPr>
              <a:t>(MOVing</a:t>
            </a:r>
            <a:r>
              <a:rPr sz="2150" spc="80" dirty="0">
                <a:latin typeface="Arial MT"/>
                <a:cs typeface="Arial MT"/>
              </a:rPr>
              <a:t> </a:t>
            </a:r>
            <a:r>
              <a:rPr sz="2150" spc="-45" dirty="0">
                <a:latin typeface="Arial MT"/>
                <a:cs typeface="Arial MT"/>
              </a:rPr>
              <a:t>Downhill)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7618" y="8032397"/>
            <a:ext cx="2522220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15"/>
              </a:lnSpc>
              <a:spcBef>
                <a:spcPts val="100"/>
              </a:spcBef>
            </a:pPr>
            <a:r>
              <a:rPr sz="2150" spc="-75" dirty="0">
                <a:latin typeface="Arial MT"/>
                <a:cs typeface="Arial MT"/>
              </a:rPr>
              <a:t>Stable</a:t>
            </a:r>
            <a:r>
              <a:rPr sz="2150" spc="-4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State:</a:t>
            </a:r>
            <a:endParaRPr sz="2150">
              <a:latin typeface="Arial MT"/>
              <a:cs typeface="Arial MT"/>
            </a:endParaRPr>
          </a:p>
          <a:p>
            <a:pPr marL="17145">
              <a:lnSpc>
                <a:spcPts val="2515"/>
              </a:lnSpc>
            </a:pPr>
            <a:r>
              <a:rPr sz="2150" spc="-100" dirty="0">
                <a:latin typeface="Arial MT"/>
                <a:cs typeface="Arial MT"/>
              </a:rPr>
              <a:t>Low-</a:t>
            </a:r>
            <a:r>
              <a:rPr sz="2150" spc="-50" dirty="0">
                <a:latin typeface="Arial MT"/>
                <a:cs typeface="Arial MT"/>
              </a:rPr>
              <a:t>Energy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spc="-70" dirty="0">
                <a:latin typeface="Arial MT"/>
                <a:cs typeface="Arial MT"/>
              </a:rPr>
              <a:t>Minimum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0200" y="2082800"/>
            <a:ext cx="5702300" cy="6883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0300" y="6565900"/>
            <a:ext cx="330200" cy="292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0300" y="7277100"/>
            <a:ext cx="1524000" cy="393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18700" y="8750300"/>
            <a:ext cx="457200" cy="279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837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20"/>
              </a:spcBef>
            </a:pPr>
            <a:r>
              <a:rPr sz="6300" spc="-265" dirty="0"/>
              <a:t>The</a:t>
            </a:r>
            <a:r>
              <a:rPr sz="6300" spc="-85" dirty="0"/>
              <a:t> </a:t>
            </a:r>
            <a:r>
              <a:rPr sz="6300" spc="-280" dirty="0"/>
              <a:t>Hopfield</a:t>
            </a:r>
            <a:r>
              <a:rPr sz="6300" spc="285" dirty="0"/>
              <a:t> </a:t>
            </a:r>
            <a:r>
              <a:rPr sz="6300" spc="-275" dirty="0"/>
              <a:t>Network:</a:t>
            </a:r>
            <a:r>
              <a:rPr sz="6300" spc="-195" dirty="0"/>
              <a:t> </a:t>
            </a:r>
            <a:r>
              <a:rPr sz="6300" spc="-960" dirty="0"/>
              <a:t>A</a:t>
            </a:r>
            <a:r>
              <a:rPr sz="6300" spc="-240" dirty="0"/>
              <a:t> </a:t>
            </a:r>
            <a:r>
              <a:rPr sz="6300" spc="-290" dirty="0"/>
              <a:t>Machine</a:t>
            </a:r>
            <a:r>
              <a:rPr sz="6300" dirty="0"/>
              <a:t> for</a:t>
            </a:r>
            <a:r>
              <a:rPr sz="6300" spc="-100" dirty="0"/>
              <a:t> Perfect</a:t>
            </a:r>
            <a:r>
              <a:rPr sz="6300" spc="30" dirty="0"/>
              <a:t> </a:t>
            </a:r>
            <a:r>
              <a:rPr sz="6300" spc="-315" dirty="0"/>
              <a:t>Recall</a:t>
            </a:r>
            <a:endParaRPr sz="630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6120" y="2009775"/>
            <a:ext cx="8066405" cy="490029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22605" indent="15875">
              <a:lnSpc>
                <a:spcPct val="98600"/>
              </a:lnSpc>
              <a:spcBef>
                <a:spcPts val="175"/>
              </a:spcBef>
              <a:tabLst>
                <a:tab pos="3122930" algn="l"/>
                <a:tab pos="4772025" algn="l"/>
              </a:tabLst>
            </a:pPr>
            <a:r>
              <a:rPr sz="3100" spc="-65" dirty="0">
                <a:latin typeface="Arial MT"/>
                <a:cs typeface="Arial MT"/>
              </a:rPr>
              <a:t>Architecture: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540" dirty="0">
                <a:latin typeface="Arial MT"/>
                <a:cs typeface="Arial MT"/>
              </a:rPr>
              <a:t>A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recurrent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35" dirty="0">
                <a:latin typeface="Arial MT"/>
                <a:cs typeface="Arial MT"/>
              </a:rPr>
              <a:t>network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of </a:t>
            </a:r>
            <a:r>
              <a:rPr sz="3100" spc="-145" dirty="0">
                <a:latin typeface="Arial MT"/>
                <a:cs typeface="Arial MT"/>
              </a:rPr>
              <a:t>interconnected</a:t>
            </a:r>
            <a:r>
              <a:rPr sz="3100" spc="-210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binary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110" dirty="0">
                <a:latin typeface="Arial MT"/>
                <a:cs typeface="Arial MT"/>
              </a:rPr>
              <a:t>units</a:t>
            </a:r>
            <a:r>
              <a:rPr sz="3100" spc="70" dirty="0">
                <a:latin typeface="Arial MT"/>
                <a:cs typeface="Arial MT"/>
              </a:rPr>
              <a:t> </a:t>
            </a:r>
            <a:r>
              <a:rPr sz="3100" spc="-204" dirty="0">
                <a:latin typeface="Arial MT"/>
                <a:cs typeface="Arial MT"/>
              </a:rPr>
              <a:t>(+1/-</a:t>
            </a:r>
            <a:r>
              <a:rPr sz="3100" spc="-185" dirty="0">
                <a:latin typeface="Arial MT"/>
                <a:cs typeface="Arial MT"/>
              </a:rPr>
              <a:t>1).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360" dirty="0">
                <a:latin typeface="Arial MT"/>
                <a:cs typeface="Arial MT"/>
              </a:rPr>
              <a:t>Key</a:t>
            </a:r>
            <a:r>
              <a:rPr sz="3100" spc="130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features </a:t>
            </a:r>
            <a:r>
              <a:rPr sz="3100" spc="-235" dirty="0">
                <a:latin typeface="Arial MT"/>
                <a:cs typeface="Arial MT"/>
              </a:rPr>
              <a:t>are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165" dirty="0">
                <a:latin typeface="Arial MT"/>
                <a:cs typeface="Arial MT"/>
              </a:rPr>
              <a:t>symmetric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spc="-155" dirty="0">
                <a:latin typeface="Arial MT"/>
                <a:cs typeface="Arial MT"/>
              </a:rPr>
              <a:t>weights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295" dirty="0">
                <a:latin typeface="Arial MT"/>
                <a:cs typeface="Arial MT"/>
              </a:rPr>
              <a:t>(W,t</a:t>
            </a:r>
            <a:r>
              <a:rPr sz="3100" dirty="0">
                <a:latin typeface="Arial MT"/>
                <a:cs typeface="Arial MT"/>
              </a:rPr>
              <a:t>	</a:t>
            </a:r>
            <a:r>
              <a:rPr sz="3100" spc="-155" dirty="0">
                <a:latin typeface="Arial MT"/>
                <a:cs typeface="Arial MT"/>
              </a:rPr>
              <a:t>W</a:t>
            </a:r>
            <a:r>
              <a:rPr sz="1850" spc="-155" dirty="0">
                <a:latin typeface="Arial MT"/>
                <a:cs typeface="Arial MT"/>
              </a:rPr>
              <a:t>k</a:t>
            </a:r>
            <a:r>
              <a:rPr sz="3100" spc="-155" dirty="0">
                <a:latin typeface="Arial MT"/>
                <a:cs typeface="Arial MT"/>
              </a:rPr>
              <a:t>))</a:t>
            </a:r>
            <a:r>
              <a:rPr sz="3100" spc="-509" dirty="0">
                <a:latin typeface="Arial MT"/>
                <a:cs typeface="Arial MT"/>
              </a:rPr>
              <a:t> </a:t>
            </a:r>
            <a:r>
              <a:rPr sz="3100" spc="-250" dirty="0">
                <a:latin typeface="Arial MT"/>
                <a:cs typeface="Arial MT"/>
              </a:rPr>
              <a:t>and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220" dirty="0">
                <a:latin typeface="Arial MT"/>
                <a:cs typeface="Arial MT"/>
              </a:rPr>
              <a:t>no</a:t>
            </a:r>
            <a:r>
              <a:rPr sz="3100" spc="3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self- </a:t>
            </a:r>
            <a:r>
              <a:rPr sz="3100" spc="-150" dirty="0">
                <a:latin typeface="Arial MT"/>
                <a:cs typeface="Arial MT"/>
              </a:rPr>
              <a:t>connections</a:t>
            </a:r>
            <a:r>
              <a:rPr sz="3100" spc="130" dirty="0">
                <a:latin typeface="Arial MT"/>
                <a:cs typeface="Arial MT"/>
              </a:rPr>
              <a:t> </a:t>
            </a:r>
            <a:r>
              <a:rPr sz="3100" spc="-275" dirty="0">
                <a:latin typeface="Arial MT"/>
                <a:cs typeface="Arial MT"/>
              </a:rPr>
              <a:t>(Wtt</a:t>
            </a:r>
            <a:r>
              <a:rPr sz="3100" spc="150" dirty="0">
                <a:latin typeface="Arial MT"/>
                <a:cs typeface="Arial MT"/>
              </a:rPr>
              <a:t> </a:t>
            </a:r>
            <a:r>
              <a:rPr sz="3100" spc="-395" dirty="0">
                <a:solidFill>
                  <a:srgbClr val="2B2B2B"/>
                </a:solidFill>
                <a:latin typeface="Arial MT"/>
                <a:cs typeface="Arial MT"/>
              </a:rPr>
              <a:t>=</a:t>
            </a:r>
            <a:r>
              <a:rPr sz="3100" dirty="0">
                <a:solidFill>
                  <a:srgbClr val="2B2B2B"/>
                </a:solidFill>
                <a:latin typeface="Arial MT"/>
                <a:cs typeface="Arial MT"/>
              </a:rPr>
              <a:t>	</a:t>
            </a:r>
            <a:r>
              <a:rPr sz="3100" spc="-25" dirty="0">
                <a:latin typeface="Arial MT"/>
                <a:cs typeface="Arial MT"/>
              </a:rPr>
              <a:t>0).</a:t>
            </a:r>
            <a:endParaRPr sz="3100" dirty="0">
              <a:latin typeface="Arial MT"/>
              <a:cs typeface="Arial MT"/>
            </a:endParaRPr>
          </a:p>
          <a:p>
            <a:pPr marL="14604" marR="5080" indent="-2540">
              <a:lnSpc>
                <a:spcPct val="106900"/>
              </a:lnSpc>
              <a:spcBef>
                <a:spcPts val="2640"/>
              </a:spcBef>
            </a:pPr>
            <a:r>
              <a:rPr sz="2900" spc="-30" dirty="0">
                <a:latin typeface="Arial MT"/>
                <a:cs typeface="Arial MT"/>
              </a:rPr>
              <a:t>Purpose:</a:t>
            </a:r>
            <a:r>
              <a:rPr sz="2900" spc="-170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To</a:t>
            </a:r>
            <a:r>
              <a:rPr sz="2900" spc="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function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as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a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Content-</a:t>
            </a:r>
            <a:r>
              <a:rPr sz="2900" spc="-10" dirty="0">
                <a:latin typeface="Arial MT"/>
                <a:cs typeface="Arial MT"/>
              </a:rPr>
              <a:t>Addressable </a:t>
            </a:r>
            <a:r>
              <a:rPr sz="2750" dirty="0">
                <a:latin typeface="Arial MT"/>
                <a:cs typeface="Arial MT"/>
              </a:rPr>
              <a:t>Memory</a:t>
            </a:r>
            <a:r>
              <a:rPr sz="2750" spc="229" dirty="0">
                <a:latin typeface="Arial MT"/>
                <a:cs typeface="Arial MT"/>
              </a:rPr>
              <a:t> </a:t>
            </a:r>
            <a:r>
              <a:rPr sz="2750" spc="-40" dirty="0">
                <a:latin typeface="Arial MT"/>
                <a:cs typeface="Arial MT"/>
              </a:rPr>
              <a:t>(CAM).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Retrieve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full</a:t>
            </a:r>
            <a:r>
              <a:rPr sz="2750" spc="-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memory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by</a:t>
            </a:r>
            <a:r>
              <a:rPr sz="2750" spc="-10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providing </a:t>
            </a:r>
            <a:r>
              <a:rPr sz="2950" spc="-55" dirty="0">
                <a:latin typeface="Arial MT"/>
                <a:cs typeface="Arial MT"/>
              </a:rPr>
              <a:t>only</a:t>
            </a:r>
            <a:r>
              <a:rPr sz="2950" spc="-155" dirty="0">
                <a:latin typeface="Arial MT"/>
                <a:cs typeface="Arial MT"/>
              </a:rPr>
              <a:t> </a:t>
            </a:r>
            <a:r>
              <a:rPr sz="2950" spc="-280" dirty="0">
                <a:latin typeface="Arial MT"/>
                <a:cs typeface="Arial MT"/>
              </a:rPr>
              <a:t>a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spc="-35" dirty="0">
                <a:latin typeface="Arial MT"/>
                <a:cs typeface="Arial MT"/>
              </a:rPr>
              <a:t>partial</a:t>
            </a:r>
            <a:r>
              <a:rPr sz="2950" spc="-175" dirty="0">
                <a:latin typeface="Arial MT"/>
                <a:cs typeface="Arial MT"/>
              </a:rPr>
              <a:t> </a:t>
            </a:r>
            <a:r>
              <a:rPr sz="2950" spc="-65" dirty="0">
                <a:latin typeface="Arial MT"/>
                <a:cs typeface="Arial MT"/>
              </a:rPr>
              <a:t>or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corrupted</a:t>
            </a:r>
            <a:r>
              <a:rPr sz="2950" spc="-160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piece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13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it.</a:t>
            </a:r>
            <a:endParaRPr sz="2950" dirty="0">
              <a:latin typeface="Arial MT"/>
              <a:cs typeface="Arial MT"/>
            </a:endParaRPr>
          </a:p>
          <a:p>
            <a:pPr marL="28575">
              <a:lnSpc>
                <a:spcPct val="100000"/>
              </a:lnSpc>
              <a:spcBef>
                <a:spcPts val="2910"/>
              </a:spcBef>
            </a:pPr>
            <a:r>
              <a:rPr sz="2900" spc="-20" dirty="0">
                <a:latin typeface="Arial MT"/>
                <a:cs typeface="Arial MT"/>
              </a:rPr>
              <a:t>Analogy: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“it's</a:t>
            </a:r>
            <a:r>
              <a:rPr sz="2900" spc="-145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like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30" dirty="0">
                <a:latin typeface="Arial MT"/>
                <a:cs typeface="Arial MT"/>
              </a:rPr>
              <a:t>reconstructing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a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spc="-75" dirty="0">
                <a:latin typeface="Arial MT"/>
                <a:cs typeface="Arial MT"/>
              </a:rPr>
              <a:t>dinosaur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from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310" dirty="0">
                <a:latin typeface="Arial MT"/>
                <a:cs typeface="Arial MT"/>
              </a:rPr>
              <a:t>a</a:t>
            </a:r>
            <a:endParaRPr sz="2900" dirty="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270"/>
              </a:spcBef>
            </a:pPr>
            <a:r>
              <a:rPr sz="2750" dirty="0">
                <a:latin typeface="Arial MT"/>
                <a:cs typeface="Arial MT"/>
              </a:rPr>
              <a:t>few</a:t>
            </a:r>
            <a:r>
              <a:rPr sz="2750" spc="9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bones.“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920" y="7219735"/>
            <a:ext cx="7654925" cy="190500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-635">
              <a:lnSpc>
                <a:spcPct val="105400"/>
              </a:lnSpc>
              <a:spcBef>
                <a:spcPts val="160"/>
              </a:spcBef>
            </a:pPr>
            <a:r>
              <a:rPr sz="2950" spc="-50" dirty="0">
                <a:latin typeface="Arial MT"/>
                <a:cs typeface="Arial MT"/>
              </a:rPr>
              <a:t>Behavior: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spc="-180" dirty="0">
                <a:latin typeface="Arial MT"/>
                <a:cs typeface="Arial MT"/>
              </a:rPr>
              <a:t>The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network</a:t>
            </a:r>
            <a:r>
              <a:rPr sz="2950" spc="15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is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deterministic.</a:t>
            </a:r>
            <a:r>
              <a:rPr sz="2950" spc="-229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It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uses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spc="-330" dirty="0">
                <a:latin typeface="Arial MT"/>
                <a:cs typeface="Arial MT"/>
              </a:rPr>
              <a:t>a </a:t>
            </a:r>
            <a:r>
              <a:rPr sz="2850" spc="-10" dirty="0">
                <a:latin typeface="Arial MT"/>
                <a:cs typeface="Arial MT"/>
              </a:rPr>
              <a:t>binary</a:t>
            </a:r>
            <a:r>
              <a:rPr sz="2850" spc="-90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threshold</a:t>
            </a:r>
            <a:r>
              <a:rPr sz="2850" spc="-90" dirty="0">
                <a:latin typeface="Arial MT"/>
                <a:cs typeface="Arial MT"/>
              </a:rPr>
              <a:t> </a:t>
            </a:r>
            <a:r>
              <a:rPr sz="2850" spc="-40" dirty="0">
                <a:latin typeface="Arial MT"/>
                <a:cs typeface="Arial MT"/>
              </a:rPr>
              <a:t>decision</a:t>
            </a:r>
            <a:r>
              <a:rPr sz="2850" spc="-16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rule</a:t>
            </a:r>
            <a:r>
              <a:rPr sz="2850" spc="-13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that</a:t>
            </a:r>
            <a:r>
              <a:rPr sz="2850" spc="-30" dirty="0">
                <a:latin typeface="Arial MT"/>
                <a:cs typeface="Arial MT"/>
              </a:rPr>
              <a:t> </a:t>
            </a:r>
            <a:r>
              <a:rPr sz="2850" spc="-80" dirty="0">
                <a:latin typeface="Arial MT"/>
                <a:cs typeface="Arial MT"/>
              </a:rPr>
              <a:t>always</a:t>
            </a:r>
            <a:r>
              <a:rPr sz="2850" spc="-114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moves </a:t>
            </a:r>
            <a:r>
              <a:rPr sz="2900" spc="-10" dirty="0">
                <a:latin typeface="Arial MT"/>
                <a:cs typeface="Arial MT"/>
              </a:rPr>
              <a:t>the</a:t>
            </a:r>
            <a:r>
              <a:rPr sz="2900" spc="-19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network's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state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towards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spc="-150" dirty="0">
                <a:latin typeface="Arial MT"/>
                <a:cs typeface="Arial MT"/>
              </a:rPr>
              <a:t>a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lower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energy </a:t>
            </a:r>
            <a:r>
              <a:rPr sz="2950" spc="-10" dirty="0">
                <a:latin typeface="Arial MT"/>
                <a:cs typeface="Arial MT"/>
              </a:rPr>
              <a:t>configuration.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86429" y="7491941"/>
            <a:ext cx="36195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25" dirty="0">
                <a:latin typeface="Cambria"/>
                <a:cs typeface="Cambria"/>
              </a:rPr>
              <a:t>ri</a:t>
            </a:r>
            <a:endParaRPr sz="39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700" y="4851400"/>
            <a:ext cx="3390900" cy="354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500" y="6261100"/>
            <a:ext cx="1587500" cy="635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9300" y="4864100"/>
            <a:ext cx="3276600" cy="3517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44200" y="6248400"/>
            <a:ext cx="1587500" cy="647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74600" y="4851400"/>
            <a:ext cx="3403600" cy="35433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114800" y="9969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700">
            <a:solidFill>
              <a:srgbClr val="6B6B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037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95"/>
              </a:spcBef>
            </a:pPr>
            <a:r>
              <a:rPr sz="5700" spc="-500" dirty="0">
                <a:latin typeface="Cambria"/>
                <a:cs typeface="Cambria"/>
              </a:rPr>
              <a:t>How</a:t>
            </a:r>
            <a:r>
              <a:rPr sz="5700" spc="-25" dirty="0">
                <a:latin typeface="Cambria"/>
                <a:cs typeface="Cambria"/>
              </a:rPr>
              <a:t> </a:t>
            </a:r>
            <a:r>
              <a:rPr sz="5700" spc="-160" dirty="0">
                <a:latin typeface="Cambria"/>
                <a:cs typeface="Cambria"/>
              </a:rPr>
              <a:t>It</a:t>
            </a:r>
            <a:r>
              <a:rPr sz="5700" spc="-280" dirty="0">
                <a:latin typeface="Cambria"/>
                <a:cs typeface="Cambria"/>
              </a:rPr>
              <a:t> </a:t>
            </a:r>
            <a:r>
              <a:rPr sz="5700" spc="-445" dirty="0">
                <a:latin typeface="Cambria"/>
                <a:cs typeface="Cambria"/>
              </a:rPr>
              <a:t>Works:</a:t>
            </a:r>
            <a:r>
              <a:rPr sz="5700" spc="225" dirty="0">
                <a:latin typeface="Cambria"/>
                <a:cs typeface="Cambria"/>
              </a:rPr>
              <a:t> </a:t>
            </a:r>
            <a:r>
              <a:rPr sz="5700" spc="-260" dirty="0">
                <a:latin typeface="Cambria"/>
                <a:cs typeface="Cambria"/>
              </a:rPr>
              <a:t>Settling</a:t>
            </a:r>
            <a:r>
              <a:rPr sz="5700" spc="310" dirty="0">
                <a:latin typeface="Cambria"/>
                <a:cs typeface="Cambria"/>
              </a:rPr>
              <a:t> </a:t>
            </a:r>
            <a:r>
              <a:rPr sz="5700" spc="-275" dirty="0">
                <a:latin typeface="Cambria"/>
                <a:cs typeface="Cambria"/>
              </a:rPr>
              <a:t>into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-204" dirty="0">
                <a:latin typeface="Cambria"/>
                <a:cs typeface="Cambria"/>
              </a:rPr>
              <a:t>a</a:t>
            </a:r>
            <a:r>
              <a:rPr sz="5700" spc="-150" dirty="0">
                <a:latin typeface="Cambria"/>
                <a:cs typeface="Cambria"/>
              </a:rPr>
              <a:t> </a:t>
            </a:r>
            <a:r>
              <a:rPr sz="5700" spc="-330" dirty="0">
                <a:latin typeface="Cambria"/>
                <a:cs typeface="Cambria"/>
              </a:rPr>
              <a:t>Stored</a:t>
            </a:r>
            <a:r>
              <a:rPr sz="5700" spc="160" dirty="0">
                <a:latin typeface="Cambria"/>
                <a:cs typeface="Cambria"/>
              </a:rPr>
              <a:t> </a:t>
            </a:r>
            <a:r>
              <a:rPr sz="5700" spc="-425" dirty="0">
                <a:latin typeface="Cambria"/>
                <a:cs typeface="Cambria"/>
              </a:rPr>
              <a:t>Memory</a:t>
            </a:r>
            <a:endParaRPr sz="57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70458" y="1911350"/>
            <a:ext cx="15355569" cy="25323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spc="-80" dirty="0">
                <a:latin typeface="Arial MT"/>
                <a:cs typeface="Arial MT"/>
              </a:rPr>
              <a:t>The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network</a:t>
            </a:r>
            <a:r>
              <a:rPr sz="2500" spc="-155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retrieves</a:t>
            </a:r>
            <a:r>
              <a:rPr sz="2500" spc="-140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a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memory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through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165" dirty="0">
                <a:latin typeface="Arial MT"/>
                <a:cs typeface="Arial MT"/>
              </a:rPr>
              <a:t>an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iterative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process:</a:t>
            </a:r>
            <a:endParaRPr sz="2500" dirty="0">
              <a:latin typeface="Arial MT"/>
              <a:cs typeface="Arial MT"/>
            </a:endParaRPr>
          </a:p>
          <a:p>
            <a:pPr marL="485140" indent="-27749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85140" algn="l"/>
              </a:tabLst>
            </a:pPr>
            <a:r>
              <a:rPr sz="2500" dirty="0">
                <a:latin typeface="Arial MT"/>
                <a:cs typeface="Arial MT"/>
              </a:rPr>
              <a:t>Initialization:</a:t>
            </a:r>
            <a:r>
              <a:rPr sz="2500" spc="-175" dirty="0">
                <a:latin typeface="Arial MT"/>
                <a:cs typeface="Arial MT"/>
              </a:rPr>
              <a:t> </a:t>
            </a:r>
            <a:r>
              <a:rPr sz="2500" spc="-130" dirty="0">
                <a:latin typeface="Arial MT"/>
                <a:cs typeface="Arial MT"/>
              </a:rPr>
              <a:t>An</a:t>
            </a:r>
            <a:r>
              <a:rPr sz="2500" spc="-180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incomplete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noisy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pattern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is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presented,</a:t>
            </a:r>
            <a:r>
              <a:rPr sz="2500" spc="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setting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network's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initial,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high-</a:t>
            </a:r>
            <a:r>
              <a:rPr sz="2500" dirty="0">
                <a:latin typeface="Arial MT"/>
                <a:cs typeface="Arial MT"/>
              </a:rPr>
              <a:t>energy</a:t>
            </a:r>
            <a:r>
              <a:rPr sz="2500" spc="19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state.</a:t>
            </a:r>
            <a:endParaRPr sz="2500" dirty="0">
              <a:latin typeface="Arial MT"/>
              <a:cs typeface="Arial MT"/>
            </a:endParaRPr>
          </a:p>
          <a:p>
            <a:pPr marL="502284" marR="373380" indent="-288925">
              <a:lnSpc>
                <a:spcPct val="107800"/>
              </a:lnSpc>
              <a:spcBef>
                <a:spcPts val="10"/>
              </a:spcBef>
              <a:buAutoNum type="arabicPeriod"/>
              <a:tabLst>
                <a:tab pos="504825" algn="l"/>
              </a:tabLst>
            </a:pPr>
            <a:r>
              <a:rPr sz="2550" spc="-35" dirty="0">
                <a:latin typeface="Arial MT"/>
                <a:cs typeface="Arial MT"/>
              </a:rPr>
              <a:t>Asynchronous</a:t>
            </a:r>
            <a:r>
              <a:rPr sz="2550" spc="-15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Updates: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Units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145" dirty="0">
                <a:latin typeface="Arial MT"/>
                <a:cs typeface="Arial MT"/>
              </a:rPr>
              <a:t>are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updated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100" dirty="0">
                <a:latin typeface="Arial MT"/>
                <a:cs typeface="Arial MT"/>
              </a:rPr>
              <a:t>one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at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a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time.</a:t>
            </a:r>
            <a:r>
              <a:rPr sz="2550" spc="-110" dirty="0">
                <a:latin typeface="Arial MT"/>
                <a:cs typeface="Arial MT"/>
              </a:rPr>
              <a:t> </a:t>
            </a:r>
            <a:r>
              <a:rPr sz="2550" spc="-190" dirty="0">
                <a:latin typeface="Arial MT"/>
                <a:cs typeface="Arial MT"/>
              </a:rPr>
              <a:t>Each</a:t>
            </a:r>
            <a:r>
              <a:rPr sz="2550" spc="1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unit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flips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its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60" dirty="0">
                <a:latin typeface="Arial MT"/>
                <a:cs typeface="Arial MT"/>
              </a:rPr>
              <a:t>state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spc="-80" dirty="0">
                <a:latin typeface="Arial MT"/>
                <a:cs typeface="Arial MT"/>
              </a:rPr>
              <a:t>only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if</a:t>
            </a:r>
            <a:r>
              <a:rPr sz="2550" spc="-5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the</a:t>
            </a:r>
            <a:r>
              <a:rPr sz="2550" spc="-15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flip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80" dirty="0">
                <a:latin typeface="Arial MT"/>
                <a:cs typeface="Arial MT"/>
              </a:rPr>
              <a:t>reduces</a:t>
            </a:r>
            <a:r>
              <a:rPr sz="2550" spc="-1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the 	</a:t>
            </a:r>
            <a:r>
              <a:rPr sz="2550" spc="-60" dirty="0">
                <a:latin typeface="Arial MT"/>
                <a:cs typeface="Arial MT"/>
              </a:rPr>
              <a:t>global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100" dirty="0">
                <a:latin typeface="Arial MT"/>
                <a:cs typeface="Arial MT"/>
              </a:rPr>
              <a:t>energy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of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the</a:t>
            </a:r>
            <a:r>
              <a:rPr sz="2550" spc="-14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network.</a:t>
            </a:r>
            <a:endParaRPr sz="2550" dirty="0">
              <a:latin typeface="Arial MT"/>
              <a:cs typeface="Arial MT"/>
            </a:endParaRPr>
          </a:p>
          <a:p>
            <a:pPr marL="498475" indent="-28892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98475" algn="l"/>
              </a:tabLst>
            </a:pPr>
            <a:r>
              <a:rPr sz="2500" spc="-25" dirty="0">
                <a:latin typeface="Arial MT"/>
                <a:cs typeface="Arial MT"/>
              </a:rPr>
              <a:t>Convergence: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The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process</a:t>
            </a:r>
            <a:r>
              <a:rPr sz="2500" spc="-1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stops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when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no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single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flip</a:t>
            </a:r>
            <a:r>
              <a:rPr sz="2500" spc="-155" dirty="0">
                <a:latin typeface="Arial MT"/>
                <a:cs typeface="Arial MT"/>
              </a:rPr>
              <a:t> </a:t>
            </a:r>
            <a:r>
              <a:rPr sz="2500" spc="-70" dirty="0">
                <a:latin typeface="Arial MT"/>
                <a:cs typeface="Arial MT"/>
              </a:rPr>
              <a:t>can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lower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45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energy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further.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The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network</a:t>
            </a:r>
            <a:r>
              <a:rPr sz="2500" spc="30" dirty="0">
                <a:latin typeface="Arial MT"/>
                <a:cs typeface="Arial MT"/>
              </a:rPr>
              <a:t> </a:t>
            </a:r>
            <a:r>
              <a:rPr sz="2500" spc="-85" dirty="0">
                <a:latin typeface="Arial MT"/>
                <a:cs typeface="Arial MT"/>
              </a:rPr>
              <a:t>has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reached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a</a:t>
            </a:r>
            <a:endParaRPr sz="2500" dirty="0">
              <a:latin typeface="Arial MT"/>
              <a:cs typeface="Arial MT"/>
            </a:endParaRPr>
          </a:p>
          <a:p>
            <a:pPr marL="505459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Arial MT"/>
                <a:cs typeface="Arial MT"/>
              </a:rPr>
              <a:t>stable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state—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energy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minimum.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8210" y="8517819"/>
            <a:ext cx="342265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Arial MT"/>
                <a:cs typeface="Arial MT"/>
              </a:rPr>
              <a:t>Initial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(High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Energy)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81855" y="8509000"/>
            <a:ext cx="393890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70" dirty="0">
                <a:latin typeface="Arial MT"/>
                <a:cs typeface="Arial MT"/>
              </a:rPr>
              <a:t>Final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State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90" dirty="0">
                <a:latin typeface="Arial MT"/>
                <a:cs typeface="Arial MT"/>
              </a:rPr>
              <a:t>(Energy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95" dirty="0">
                <a:latin typeface="Arial MT"/>
                <a:cs typeface="Arial MT"/>
              </a:rPr>
              <a:t>Minimum)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7300" y="2514600"/>
            <a:ext cx="6261100" cy="5791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837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20"/>
              </a:spcBef>
            </a:pPr>
            <a:r>
              <a:rPr sz="6300" spc="-385" dirty="0">
                <a:latin typeface="Cambria"/>
                <a:cs typeface="Cambria"/>
              </a:rPr>
              <a:t>The</a:t>
            </a:r>
            <a:r>
              <a:rPr sz="6300" spc="35" dirty="0">
                <a:latin typeface="Cambria"/>
                <a:cs typeface="Cambria"/>
              </a:rPr>
              <a:t> </a:t>
            </a:r>
            <a:r>
              <a:rPr sz="6300" spc="-160" dirty="0">
                <a:latin typeface="Cambria"/>
                <a:cs typeface="Cambria"/>
              </a:rPr>
              <a:t>Challenge:</a:t>
            </a:r>
            <a:r>
              <a:rPr sz="6300" spc="-185" dirty="0">
                <a:latin typeface="Cambria"/>
                <a:cs typeface="Cambria"/>
              </a:rPr>
              <a:t> </a:t>
            </a:r>
            <a:r>
              <a:rPr sz="6300" spc="-85" dirty="0">
                <a:latin typeface="Cambria"/>
                <a:cs typeface="Cambria"/>
              </a:rPr>
              <a:t>Cracks</a:t>
            </a:r>
            <a:r>
              <a:rPr sz="6300" spc="-265" dirty="0">
                <a:latin typeface="Cambria"/>
                <a:cs typeface="Cambria"/>
              </a:rPr>
              <a:t> </a:t>
            </a:r>
            <a:r>
              <a:rPr sz="6300" spc="-90" dirty="0">
                <a:latin typeface="Cambria"/>
                <a:cs typeface="Cambria"/>
              </a:rPr>
              <a:t>in</a:t>
            </a:r>
            <a:r>
              <a:rPr sz="6300" spc="-254" dirty="0">
                <a:latin typeface="Cambria"/>
                <a:cs typeface="Cambria"/>
              </a:rPr>
              <a:t> </a:t>
            </a:r>
            <a:r>
              <a:rPr sz="6300" spc="-210" dirty="0">
                <a:latin typeface="Cambria"/>
                <a:cs typeface="Cambria"/>
              </a:rPr>
              <a:t>the</a:t>
            </a:r>
            <a:r>
              <a:rPr sz="6300" spc="-135" dirty="0">
                <a:latin typeface="Cambria"/>
                <a:cs typeface="Cambria"/>
              </a:rPr>
              <a:t> </a:t>
            </a:r>
            <a:r>
              <a:rPr sz="6300" spc="-165" dirty="0">
                <a:latin typeface="Cambria"/>
                <a:cs typeface="Cambria"/>
              </a:rPr>
              <a:t>Crystalline</a:t>
            </a:r>
            <a:r>
              <a:rPr sz="6300" spc="85" dirty="0">
                <a:latin typeface="Cambria"/>
                <a:cs typeface="Cambria"/>
              </a:rPr>
              <a:t> </a:t>
            </a:r>
            <a:r>
              <a:rPr sz="6300" spc="-400" dirty="0">
                <a:latin typeface="Cambria"/>
                <a:cs typeface="Cambria"/>
              </a:rPr>
              <a:t>Memory</a:t>
            </a:r>
            <a:endParaRPr sz="63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84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4134" y="1996016"/>
            <a:ext cx="7742555" cy="64528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4604" marR="243840" indent="-2540">
              <a:lnSpc>
                <a:spcPct val="94200"/>
              </a:lnSpc>
              <a:spcBef>
                <a:spcPts val="360"/>
              </a:spcBef>
            </a:pPr>
            <a:r>
              <a:rPr sz="3300" spc="-60" dirty="0">
                <a:latin typeface="Arial MT"/>
                <a:cs typeface="Arial MT"/>
              </a:rPr>
              <a:t>While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elegant,</a:t>
            </a:r>
            <a:r>
              <a:rPr sz="3300" spc="-13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Hopfield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Network's </a:t>
            </a:r>
            <a:r>
              <a:rPr sz="3300" dirty="0">
                <a:latin typeface="Arial MT"/>
                <a:cs typeface="Arial MT"/>
              </a:rPr>
              <a:t>deterministic</a:t>
            </a:r>
            <a:r>
              <a:rPr sz="3300" spc="-1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nature</a:t>
            </a:r>
            <a:r>
              <a:rPr sz="3300" spc="-165" dirty="0">
                <a:latin typeface="Arial MT"/>
                <a:cs typeface="Arial MT"/>
              </a:rPr>
              <a:t> </a:t>
            </a:r>
            <a:r>
              <a:rPr sz="3300" spc="-30" dirty="0">
                <a:latin typeface="Arial MT"/>
                <a:cs typeface="Arial MT"/>
              </a:rPr>
              <a:t>and</a:t>
            </a:r>
            <a:r>
              <a:rPr sz="3300" spc="-200" dirty="0">
                <a:latin typeface="Arial MT"/>
                <a:cs typeface="Arial MT"/>
              </a:rPr>
              <a:t> </a:t>
            </a:r>
            <a:r>
              <a:rPr sz="3300" spc="-35" dirty="0">
                <a:latin typeface="Arial MT"/>
                <a:cs typeface="Arial MT"/>
              </a:rPr>
              <a:t>simple</a:t>
            </a:r>
            <a:r>
              <a:rPr sz="3300" spc="-19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learning </a:t>
            </a:r>
            <a:r>
              <a:rPr sz="3400" spc="-30" dirty="0">
                <a:latin typeface="Arial MT"/>
                <a:cs typeface="Arial MT"/>
              </a:rPr>
              <a:t>rule</a:t>
            </a:r>
            <a:r>
              <a:rPr sz="3400" spc="-190" dirty="0">
                <a:latin typeface="Arial MT"/>
                <a:cs typeface="Arial MT"/>
              </a:rPr>
              <a:t> </a:t>
            </a:r>
            <a:r>
              <a:rPr sz="3400" spc="-100" dirty="0">
                <a:latin typeface="Arial MT"/>
                <a:cs typeface="Arial MT"/>
              </a:rPr>
              <a:t>(Hebbian</a:t>
            </a:r>
            <a:r>
              <a:rPr sz="3400" spc="-90" dirty="0">
                <a:latin typeface="Arial MT"/>
                <a:cs typeface="Arial MT"/>
              </a:rPr>
              <a:t> </a:t>
            </a:r>
            <a:r>
              <a:rPr sz="3400" spc="-65" dirty="0">
                <a:latin typeface="Arial MT"/>
                <a:cs typeface="Arial MT"/>
              </a:rPr>
              <a:t>learning)</a:t>
            </a:r>
            <a:r>
              <a:rPr sz="3400" spc="105" dirty="0">
                <a:latin typeface="Arial MT"/>
                <a:cs typeface="Arial MT"/>
              </a:rPr>
              <a:t> </a:t>
            </a:r>
            <a:r>
              <a:rPr sz="3400" spc="-100" dirty="0">
                <a:latin typeface="Arial MT"/>
                <a:cs typeface="Arial MT"/>
              </a:rPr>
              <a:t>lead</a:t>
            </a:r>
            <a:r>
              <a:rPr sz="3400" spc="-135" dirty="0">
                <a:latin typeface="Arial MT"/>
                <a:cs typeface="Arial MT"/>
              </a:rPr>
              <a:t> </a:t>
            </a:r>
            <a:r>
              <a:rPr sz="3400" spc="50" dirty="0">
                <a:latin typeface="Arial MT"/>
                <a:cs typeface="Arial MT"/>
              </a:rPr>
              <a:t>to</a:t>
            </a:r>
            <a:r>
              <a:rPr sz="3400" spc="-215" dirty="0">
                <a:latin typeface="Arial MT"/>
                <a:cs typeface="Arial MT"/>
              </a:rPr>
              <a:t> </a:t>
            </a:r>
            <a:r>
              <a:rPr sz="3400" spc="-60" dirty="0">
                <a:latin typeface="Arial MT"/>
                <a:cs typeface="Arial MT"/>
              </a:rPr>
              <a:t>significant </a:t>
            </a:r>
            <a:r>
              <a:rPr sz="3300" dirty="0">
                <a:latin typeface="Arial MT"/>
                <a:cs typeface="Arial MT"/>
              </a:rPr>
              <a:t>practical</a:t>
            </a:r>
            <a:r>
              <a:rPr sz="3300" spc="-16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limitations.</a:t>
            </a:r>
            <a:endParaRPr sz="3300" dirty="0">
              <a:latin typeface="Arial MT"/>
              <a:cs typeface="Arial MT"/>
            </a:endParaRPr>
          </a:p>
          <a:p>
            <a:pPr marL="13335" marR="133985" indent="6350">
              <a:lnSpc>
                <a:spcPct val="93300"/>
              </a:lnSpc>
              <a:spcBef>
                <a:spcPts val="2605"/>
              </a:spcBef>
            </a:pPr>
            <a:r>
              <a:rPr sz="3300" spc="-80" dirty="0">
                <a:latin typeface="Arial MT"/>
                <a:cs typeface="Arial MT"/>
              </a:rPr>
              <a:t>These</a:t>
            </a:r>
            <a:r>
              <a:rPr sz="3300" spc="-1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limitations</a:t>
            </a:r>
            <a:r>
              <a:rPr sz="3300" spc="-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restrict</a:t>
            </a:r>
            <a:r>
              <a:rPr sz="3300" spc="30" dirty="0">
                <a:latin typeface="Arial MT"/>
                <a:cs typeface="Arial MT"/>
              </a:rPr>
              <a:t> </a:t>
            </a:r>
            <a:r>
              <a:rPr sz="3300" spc="65" dirty="0">
                <a:latin typeface="Arial MT"/>
                <a:cs typeface="Arial MT"/>
              </a:rPr>
              <a:t>its</a:t>
            </a:r>
            <a:r>
              <a:rPr sz="3300" spc="-22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reliability</a:t>
            </a:r>
            <a:r>
              <a:rPr sz="3300" spc="9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and </a:t>
            </a:r>
            <a:r>
              <a:rPr sz="3300" dirty="0">
                <a:latin typeface="Arial MT"/>
                <a:cs typeface="Arial MT"/>
              </a:rPr>
              <a:t>efficiency,</a:t>
            </a:r>
            <a:r>
              <a:rPr sz="3300" spc="-190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especially</a:t>
            </a:r>
            <a:r>
              <a:rPr sz="3300" dirty="0">
                <a:latin typeface="Arial MT"/>
                <a:cs typeface="Arial MT"/>
              </a:rPr>
              <a:t> </a:t>
            </a:r>
            <a:r>
              <a:rPr sz="3300" spc="-50" dirty="0">
                <a:latin typeface="Arial MT"/>
                <a:cs typeface="Arial MT"/>
              </a:rPr>
              <a:t>as</a:t>
            </a:r>
            <a:r>
              <a:rPr sz="3300" spc="-18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155" dirty="0">
                <a:latin typeface="Arial MT"/>
                <a:cs typeface="Arial MT"/>
              </a:rPr>
              <a:t> </a:t>
            </a:r>
            <a:r>
              <a:rPr sz="3300" spc="-35" dirty="0">
                <a:latin typeface="Arial MT"/>
                <a:cs typeface="Arial MT"/>
              </a:rPr>
              <a:t>number</a:t>
            </a:r>
            <a:r>
              <a:rPr sz="3300" spc="1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of </a:t>
            </a:r>
            <a:r>
              <a:rPr sz="3400" spc="-45" dirty="0">
                <a:latin typeface="Arial MT"/>
                <a:cs typeface="Arial MT"/>
              </a:rPr>
              <a:t>stored</a:t>
            </a:r>
            <a:r>
              <a:rPr sz="3400" spc="-195" dirty="0">
                <a:latin typeface="Arial MT"/>
                <a:cs typeface="Arial MT"/>
              </a:rPr>
              <a:t> </a:t>
            </a:r>
            <a:r>
              <a:rPr sz="3400" spc="-100" dirty="0">
                <a:latin typeface="Arial MT"/>
                <a:cs typeface="Arial MT"/>
              </a:rPr>
              <a:t>memories</a:t>
            </a:r>
            <a:r>
              <a:rPr sz="3400" spc="-135" dirty="0">
                <a:latin typeface="Arial MT"/>
                <a:cs typeface="Arial MT"/>
              </a:rPr>
              <a:t> </a:t>
            </a:r>
            <a:r>
              <a:rPr sz="3400" spc="-75" dirty="0">
                <a:latin typeface="Arial MT"/>
                <a:cs typeface="Arial MT"/>
              </a:rPr>
              <a:t>increases.</a:t>
            </a:r>
            <a:r>
              <a:rPr sz="3400" spc="5" dirty="0">
                <a:latin typeface="Arial MT"/>
                <a:cs typeface="Arial MT"/>
              </a:rPr>
              <a:t> </a:t>
            </a:r>
            <a:r>
              <a:rPr sz="3400" spc="-165" dirty="0">
                <a:latin typeface="Arial MT"/>
                <a:cs typeface="Arial MT"/>
              </a:rPr>
              <a:t>The</a:t>
            </a:r>
            <a:r>
              <a:rPr sz="3400" spc="-140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’perfect’ </a:t>
            </a:r>
            <a:r>
              <a:rPr sz="3400" spc="-85" dirty="0">
                <a:latin typeface="Arial MT"/>
                <a:cs typeface="Arial MT"/>
              </a:rPr>
              <a:t>memory</a:t>
            </a:r>
            <a:r>
              <a:rPr sz="3400" spc="-95" dirty="0">
                <a:latin typeface="Arial MT"/>
                <a:cs typeface="Arial MT"/>
              </a:rPr>
              <a:t> </a:t>
            </a:r>
            <a:r>
              <a:rPr sz="3400" spc="-105" dirty="0">
                <a:latin typeface="Arial MT"/>
                <a:cs typeface="Arial MT"/>
              </a:rPr>
              <a:t>machine</a:t>
            </a:r>
            <a:r>
              <a:rPr sz="3400" spc="-95" dirty="0">
                <a:latin typeface="Arial MT"/>
                <a:cs typeface="Arial MT"/>
              </a:rPr>
              <a:t> </a:t>
            </a:r>
            <a:r>
              <a:rPr sz="3400" spc="-40" dirty="0">
                <a:latin typeface="Arial MT"/>
                <a:cs typeface="Arial MT"/>
              </a:rPr>
              <a:t>begins</a:t>
            </a:r>
            <a:r>
              <a:rPr sz="3400" spc="-2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to</a:t>
            </a:r>
            <a:r>
              <a:rPr sz="3400" spc="-195" dirty="0">
                <a:latin typeface="Arial MT"/>
                <a:cs typeface="Arial MT"/>
              </a:rPr>
              <a:t> </a:t>
            </a:r>
            <a:r>
              <a:rPr sz="3400" spc="-105" dirty="0">
                <a:latin typeface="Arial MT"/>
                <a:cs typeface="Arial MT"/>
              </a:rPr>
              <a:t>show</a:t>
            </a:r>
            <a:r>
              <a:rPr sz="3400" spc="-135" dirty="0">
                <a:latin typeface="Arial MT"/>
                <a:cs typeface="Arial MT"/>
              </a:rPr>
              <a:t> </a:t>
            </a:r>
            <a:r>
              <a:rPr sz="3400" spc="-25" dirty="0">
                <a:latin typeface="Arial MT"/>
                <a:cs typeface="Arial MT"/>
              </a:rPr>
              <a:t>its </a:t>
            </a:r>
            <a:r>
              <a:rPr sz="3300" spc="-10" dirty="0">
                <a:latin typeface="Arial MT"/>
                <a:cs typeface="Arial MT"/>
              </a:rPr>
              <a:t>faults.</a:t>
            </a:r>
            <a:endParaRPr sz="3300" dirty="0">
              <a:latin typeface="Arial MT"/>
              <a:cs typeface="Arial MT"/>
            </a:endParaRPr>
          </a:p>
          <a:p>
            <a:pPr marL="15240" marR="5080" indent="4445">
              <a:lnSpc>
                <a:spcPct val="88800"/>
              </a:lnSpc>
              <a:spcBef>
                <a:spcPts val="2770"/>
              </a:spcBef>
            </a:pPr>
            <a:r>
              <a:rPr sz="3550" spc="-295" dirty="0">
                <a:latin typeface="Arial MT"/>
                <a:cs typeface="Arial MT"/>
              </a:rPr>
              <a:t>Two</a:t>
            </a:r>
            <a:r>
              <a:rPr sz="3550" spc="-125" dirty="0">
                <a:latin typeface="Arial MT"/>
                <a:cs typeface="Arial MT"/>
              </a:rPr>
              <a:t> </a:t>
            </a:r>
            <a:r>
              <a:rPr sz="3550" spc="-204" dirty="0">
                <a:latin typeface="Arial MT"/>
                <a:cs typeface="Arial MT"/>
              </a:rPr>
              <a:t>major</a:t>
            </a:r>
            <a:r>
              <a:rPr sz="3550" spc="-40" dirty="0">
                <a:latin typeface="Arial MT"/>
                <a:cs typeface="Arial MT"/>
              </a:rPr>
              <a:t> </a:t>
            </a:r>
            <a:r>
              <a:rPr sz="3550" spc="-170" dirty="0">
                <a:latin typeface="Arial MT"/>
                <a:cs typeface="Arial MT"/>
              </a:rPr>
              <a:t>problems</a:t>
            </a:r>
            <a:r>
              <a:rPr sz="3550" spc="20" dirty="0">
                <a:latin typeface="Arial MT"/>
                <a:cs typeface="Arial MT"/>
              </a:rPr>
              <a:t> </a:t>
            </a:r>
            <a:r>
              <a:rPr sz="3550" spc="-220" dirty="0">
                <a:latin typeface="Arial MT"/>
                <a:cs typeface="Arial MT"/>
              </a:rPr>
              <a:t>emerge:</a:t>
            </a:r>
            <a:r>
              <a:rPr sz="3550" spc="-25" dirty="0">
                <a:latin typeface="Arial MT"/>
                <a:cs typeface="Arial MT"/>
              </a:rPr>
              <a:t> </a:t>
            </a:r>
            <a:r>
              <a:rPr sz="3550" spc="-95" dirty="0">
                <a:latin typeface="Arial MT"/>
                <a:cs typeface="Arial MT"/>
              </a:rPr>
              <a:t>the</a:t>
            </a:r>
            <a:r>
              <a:rPr sz="3550" spc="-195" dirty="0">
                <a:latin typeface="Arial MT"/>
                <a:cs typeface="Arial MT"/>
              </a:rPr>
              <a:t> </a:t>
            </a:r>
            <a:r>
              <a:rPr sz="3550" spc="-10" dirty="0">
                <a:latin typeface="Arial MT"/>
                <a:cs typeface="Arial MT"/>
              </a:rPr>
              <a:t>creation </a:t>
            </a:r>
            <a:r>
              <a:rPr sz="3400" dirty="0">
                <a:latin typeface="Arial MT"/>
                <a:cs typeface="Arial MT"/>
              </a:rPr>
              <a:t>of</a:t>
            </a:r>
            <a:r>
              <a:rPr sz="3400" spc="-240" dirty="0">
                <a:latin typeface="Arial MT"/>
                <a:cs typeface="Arial MT"/>
              </a:rPr>
              <a:t> </a:t>
            </a:r>
            <a:r>
              <a:rPr sz="3400" spc="-60" dirty="0">
                <a:latin typeface="Arial MT"/>
                <a:cs typeface="Arial MT"/>
              </a:rPr>
              <a:t>false</a:t>
            </a:r>
            <a:r>
              <a:rPr sz="3400" spc="-175" dirty="0">
                <a:latin typeface="Arial MT"/>
                <a:cs typeface="Arial MT"/>
              </a:rPr>
              <a:t> </a:t>
            </a:r>
            <a:r>
              <a:rPr sz="3400" spc="-85" dirty="0">
                <a:latin typeface="Arial MT"/>
                <a:cs typeface="Arial MT"/>
              </a:rPr>
              <a:t>memories</a:t>
            </a:r>
            <a:r>
              <a:rPr sz="3400" spc="-5" dirty="0">
                <a:latin typeface="Arial MT"/>
                <a:cs typeface="Arial MT"/>
              </a:rPr>
              <a:t> </a:t>
            </a:r>
            <a:r>
              <a:rPr sz="3400" spc="-105" dirty="0">
                <a:latin typeface="Arial MT"/>
                <a:cs typeface="Arial MT"/>
              </a:rPr>
              <a:t>and</a:t>
            </a:r>
            <a:r>
              <a:rPr sz="3400" spc="-120" dirty="0">
                <a:latin typeface="Arial MT"/>
                <a:cs typeface="Arial MT"/>
              </a:rPr>
              <a:t> </a:t>
            </a:r>
            <a:r>
              <a:rPr sz="3400" spc="-305" dirty="0">
                <a:latin typeface="Arial MT"/>
                <a:cs typeface="Arial MT"/>
              </a:rPr>
              <a:t>a</a:t>
            </a:r>
            <a:r>
              <a:rPr sz="3400" spc="65" dirty="0">
                <a:latin typeface="Arial MT"/>
                <a:cs typeface="Arial MT"/>
              </a:rPr>
              <a:t> </a:t>
            </a:r>
            <a:r>
              <a:rPr sz="3400" spc="-114" dirty="0">
                <a:latin typeface="Arial MT"/>
                <a:cs typeface="Arial MT"/>
              </a:rPr>
              <a:t>severe</a:t>
            </a:r>
            <a:r>
              <a:rPr sz="3400" spc="-20" dirty="0">
                <a:latin typeface="Arial MT"/>
                <a:cs typeface="Arial MT"/>
              </a:rPr>
              <a:t> </a:t>
            </a:r>
            <a:r>
              <a:rPr sz="3400" spc="-45" dirty="0">
                <a:latin typeface="Arial MT"/>
                <a:cs typeface="Arial MT"/>
              </a:rPr>
              <a:t>bottleneck </a:t>
            </a:r>
            <a:r>
              <a:rPr sz="3600" spc="-250" dirty="0">
                <a:latin typeface="Arial MT"/>
                <a:cs typeface="Arial MT"/>
              </a:rPr>
              <a:t>on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180" dirty="0">
                <a:latin typeface="Arial MT"/>
                <a:cs typeface="Arial MT"/>
              </a:rPr>
              <a:t>storage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55" dirty="0">
                <a:latin typeface="Arial MT"/>
                <a:cs typeface="Arial MT"/>
              </a:rPr>
              <a:t>capacity.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2900" y="2679700"/>
            <a:ext cx="9563100" cy="5156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546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30"/>
              </a:spcBef>
            </a:pPr>
            <a:r>
              <a:rPr sz="4900" spc="-155" dirty="0">
                <a:latin typeface="Cambria"/>
                <a:cs typeface="Cambria"/>
              </a:rPr>
              <a:t>The</a:t>
            </a:r>
            <a:r>
              <a:rPr sz="4900" spc="-114" dirty="0">
                <a:latin typeface="Cambria"/>
                <a:cs typeface="Cambria"/>
              </a:rPr>
              <a:t> </a:t>
            </a:r>
            <a:r>
              <a:rPr sz="4900" spc="-260" dirty="0">
                <a:latin typeface="Cambria"/>
                <a:cs typeface="Cambria"/>
              </a:rPr>
              <a:t>Problem</a:t>
            </a:r>
            <a:r>
              <a:rPr sz="4900" spc="-10" dirty="0">
                <a:latin typeface="Cambria"/>
                <a:cs typeface="Cambria"/>
              </a:rPr>
              <a:t> </a:t>
            </a:r>
            <a:r>
              <a:rPr sz="4900" dirty="0">
                <a:latin typeface="Cambria"/>
                <a:cs typeface="Cambria"/>
              </a:rPr>
              <a:t>of</a:t>
            </a:r>
            <a:r>
              <a:rPr sz="4900" spc="-195" dirty="0">
                <a:latin typeface="Cambria"/>
                <a:cs typeface="Cambria"/>
              </a:rPr>
              <a:t> </a:t>
            </a:r>
            <a:r>
              <a:rPr sz="4900" spc="-165" dirty="0">
                <a:latin typeface="Cambria"/>
                <a:cs typeface="Cambria"/>
              </a:rPr>
              <a:t>Spurious</a:t>
            </a:r>
            <a:r>
              <a:rPr sz="4900" spc="-10" dirty="0">
                <a:latin typeface="Cambria"/>
                <a:cs typeface="Cambria"/>
              </a:rPr>
              <a:t> </a:t>
            </a:r>
            <a:r>
              <a:rPr sz="4900" spc="-160" dirty="0">
                <a:latin typeface="Cambria"/>
                <a:cs typeface="Cambria"/>
              </a:rPr>
              <a:t>Minima:</a:t>
            </a:r>
            <a:r>
              <a:rPr sz="4900" spc="30" dirty="0">
                <a:latin typeface="Cambria"/>
                <a:cs typeface="Cambria"/>
              </a:rPr>
              <a:t> </a:t>
            </a:r>
            <a:r>
              <a:rPr sz="4900" spc="-175" dirty="0">
                <a:latin typeface="Cambria"/>
                <a:cs typeface="Cambria"/>
              </a:rPr>
              <a:t>Memories</a:t>
            </a:r>
            <a:r>
              <a:rPr sz="4900" spc="95" dirty="0">
                <a:latin typeface="Cambria"/>
                <a:cs typeface="Cambria"/>
              </a:rPr>
              <a:t> </a:t>
            </a:r>
            <a:r>
              <a:rPr sz="4900" spc="-190" dirty="0">
                <a:latin typeface="Cambria"/>
                <a:cs typeface="Cambria"/>
              </a:rPr>
              <a:t>That</a:t>
            </a:r>
            <a:r>
              <a:rPr sz="4900" spc="-80" dirty="0">
                <a:latin typeface="Cambria"/>
                <a:cs typeface="Cambria"/>
              </a:rPr>
              <a:t> </a:t>
            </a:r>
            <a:r>
              <a:rPr sz="4900" spc="-285" dirty="0">
                <a:latin typeface="Cambria"/>
                <a:cs typeface="Cambria"/>
              </a:rPr>
              <a:t>Never</a:t>
            </a:r>
            <a:r>
              <a:rPr sz="4900" spc="-35" dirty="0">
                <a:latin typeface="Cambria"/>
                <a:cs typeface="Cambria"/>
              </a:rPr>
              <a:t> </a:t>
            </a:r>
            <a:r>
              <a:rPr sz="4900" spc="-425" dirty="0">
                <a:latin typeface="Cambria"/>
                <a:cs typeface="Cambria"/>
              </a:rPr>
              <a:t>Were</a:t>
            </a:r>
            <a:endParaRPr sz="49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059" y="2443691"/>
            <a:ext cx="5109210" cy="38989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14604">
              <a:lnSpc>
                <a:spcPct val="93400"/>
              </a:lnSpc>
              <a:spcBef>
                <a:spcPts val="320"/>
              </a:spcBef>
            </a:pPr>
            <a:r>
              <a:rPr sz="2700" spc="-35" dirty="0">
                <a:latin typeface="Arial MT"/>
                <a:cs typeface="Arial MT"/>
              </a:rPr>
              <a:t>The</a:t>
            </a:r>
            <a:r>
              <a:rPr sz="2700" spc="-1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process</a:t>
            </a:r>
            <a:r>
              <a:rPr sz="2700" spc="1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9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storing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desired </a:t>
            </a:r>
            <a:r>
              <a:rPr sz="2700" dirty="0">
                <a:latin typeface="Arial MT"/>
                <a:cs typeface="Arial MT"/>
              </a:rPr>
              <a:t>patterns</a:t>
            </a:r>
            <a:r>
              <a:rPr sz="2700" spc="1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(creating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deep</a:t>
            </a:r>
            <a:r>
              <a:rPr sz="2700" spc="4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energy </a:t>
            </a:r>
            <a:r>
              <a:rPr sz="2700" spc="-30" dirty="0">
                <a:latin typeface="Arial MT"/>
                <a:cs typeface="Arial MT"/>
              </a:rPr>
              <a:t>valleys)</a:t>
            </a:r>
            <a:r>
              <a:rPr sz="2700" spc="1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inadvertently</a:t>
            </a:r>
            <a:r>
              <a:rPr sz="2700" spc="204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creates </a:t>
            </a:r>
            <a:r>
              <a:rPr sz="2700" dirty="0">
                <a:latin typeface="Arial MT"/>
                <a:cs typeface="Arial MT"/>
              </a:rPr>
              <a:t>other,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unintended</a:t>
            </a:r>
            <a:r>
              <a:rPr sz="2700" spc="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stable</a:t>
            </a:r>
            <a:r>
              <a:rPr sz="2700" spc="5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states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in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network.</a:t>
            </a:r>
            <a:r>
              <a:rPr sz="2700" spc="2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These</a:t>
            </a:r>
            <a:r>
              <a:rPr sz="2700" spc="40" dirty="0">
                <a:latin typeface="Arial MT"/>
                <a:cs typeface="Arial MT"/>
              </a:rPr>
              <a:t> </a:t>
            </a:r>
            <a:r>
              <a:rPr sz="2700" spc="50" dirty="0">
                <a:latin typeface="Arial MT"/>
                <a:cs typeface="Arial MT"/>
              </a:rPr>
              <a:t>"spurious </a:t>
            </a:r>
            <a:r>
              <a:rPr sz="2700" spc="60" dirty="0">
                <a:latin typeface="Arial MT"/>
                <a:cs typeface="Arial MT"/>
              </a:rPr>
              <a:t>minima"</a:t>
            </a:r>
            <a:r>
              <a:rPr sz="2700" spc="9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are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false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memories.</a:t>
            </a:r>
            <a:r>
              <a:rPr sz="2700" spc="25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If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network</a:t>
            </a:r>
            <a:r>
              <a:rPr sz="2700" spc="29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starts</a:t>
            </a:r>
            <a:r>
              <a:rPr sz="2700" spc="19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from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certain </a:t>
            </a:r>
            <a:r>
              <a:rPr sz="2700" dirty="0">
                <a:latin typeface="Arial MT"/>
                <a:cs typeface="Arial MT"/>
              </a:rPr>
              <a:t>initial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states,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1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can</a:t>
            </a:r>
            <a:r>
              <a:rPr sz="2700" spc="7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get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trapped</a:t>
            </a:r>
            <a:r>
              <a:rPr sz="2700" spc="4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in </a:t>
            </a:r>
            <a:r>
              <a:rPr sz="2700" dirty="0">
                <a:latin typeface="Arial MT"/>
                <a:cs typeface="Arial MT"/>
              </a:rPr>
              <a:t>these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valleys,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retrieving</a:t>
            </a:r>
            <a:r>
              <a:rPr sz="2700" spc="120" dirty="0">
                <a:latin typeface="Arial MT"/>
                <a:cs typeface="Arial MT"/>
              </a:rPr>
              <a:t> </a:t>
            </a:r>
            <a:r>
              <a:rPr sz="2700" spc="-254" dirty="0">
                <a:latin typeface="Arial MT"/>
                <a:cs typeface="Arial MT"/>
              </a:rPr>
              <a:t>a</a:t>
            </a:r>
            <a:r>
              <a:rPr sz="2700" spc="7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pattern </a:t>
            </a:r>
            <a:r>
              <a:rPr sz="2700" dirty="0">
                <a:latin typeface="Arial MT"/>
                <a:cs typeface="Arial MT"/>
              </a:rPr>
              <a:t>that</a:t>
            </a:r>
            <a:r>
              <a:rPr sz="2700" spc="4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was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never</a:t>
            </a:r>
            <a:r>
              <a:rPr sz="2700" spc="1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explicitly</a:t>
            </a:r>
            <a:r>
              <a:rPr sz="2700" spc="13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stored.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105" y="6723591"/>
            <a:ext cx="5384165" cy="19913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5080">
              <a:lnSpc>
                <a:spcPct val="92600"/>
              </a:lnSpc>
              <a:spcBef>
                <a:spcPts val="345"/>
              </a:spcBef>
              <a:tabLst>
                <a:tab pos="1271270" algn="l"/>
                <a:tab pos="2529205" algn="l"/>
                <a:tab pos="5011420" algn="l"/>
              </a:tabLst>
            </a:pPr>
            <a:r>
              <a:rPr sz="2700" dirty="0">
                <a:latin typeface="Cambria"/>
                <a:cs typeface="Cambria"/>
              </a:rPr>
              <a:t>The</a:t>
            </a:r>
            <a:r>
              <a:rPr sz="2700" spc="20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source</a:t>
            </a:r>
            <a:r>
              <a:rPr sz="2700" spc="3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text</a:t>
            </a:r>
            <a:r>
              <a:rPr sz="2700" spc="330" dirty="0">
                <a:latin typeface="Cambria"/>
                <a:cs typeface="Cambria"/>
              </a:rPr>
              <a:t> </a:t>
            </a:r>
            <a:r>
              <a:rPr sz="2700" spc="55" dirty="0">
                <a:latin typeface="Cambria"/>
                <a:cs typeface="Cambria"/>
              </a:rPr>
              <a:t>notes</a:t>
            </a:r>
            <a:r>
              <a:rPr sz="2700" spc="145" dirty="0">
                <a:latin typeface="Cambria"/>
                <a:cs typeface="Cambria"/>
              </a:rPr>
              <a:t> </a:t>
            </a:r>
            <a:r>
              <a:rPr sz="2700" spc="80" dirty="0">
                <a:latin typeface="Cambria"/>
                <a:cs typeface="Cambria"/>
              </a:rPr>
              <a:t>these</a:t>
            </a:r>
            <a:r>
              <a:rPr sz="2700" spc="110" dirty="0">
                <a:latin typeface="Cambria"/>
                <a:cs typeface="Cambria"/>
              </a:rPr>
              <a:t> </a:t>
            </a:r>
            <a:r>
              <a:rPr sz="2700" spc="50" dirty="0">
                <a:latin typeface="Cambria"/>
                <a:cs typeface="Cambria"/>
              </a:rPr>
              <a:t>can</a:t>
            </a:r>
            <a:r>
              <a:rPr sz="2700" dirty="0">
                <a:latin typeface="Cambria"/>
                <a:cs typeface="Cambria"/>
              </a:rPr>
              <a:t>	</a:t>
            </a:r>
            <a:r>
              <a:rPr sz="2700" spc="-25" dirty="0">
                <a:latin typeface="Cambria"/>
                <a:cs typeface="Cambria"/>
              </a:rPr>
              <a:t>be </a:t>
            </a:r>
            <a:r>
              <a:rPr sz="2700" spc="-10" dirty="0">
                <a:latin typeface="Cambria"/>
                <a:cs typeface="Cambria"/>
              </a:rPr>
              <a:t>random</a:t>
            </a:r>
            <a:r>
              <a:rPr sz="2700" dirty="0">
                <a:latin typeface="Cambria"/>
                <a:cs typeface="Cambria"/>
              </a:rPr>
              <a:t>	patterns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2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blends</a:t>
            </a:r>
            <a:r>
              <a:rPr sz="2700" spc="10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of </a:t>
            </a:r>
            <a:r>
              <a:rPr sz="2750" dirty="0">
                <a:latin typeface="Cambria"/>
                <a:cs typeface="Cambria"/>
              </a:rPr>
              <a:t>stored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patterns,</a:t>
            </a:r>
            <a:r>
              <a:rPr sz="2750" dirty="0">
                <a:latin typeface="Cambria"/>
                <a:cs typeface="Cambria"/>
              </a:rPr>
              <a:t>	and</a:t>
            </a:r>
            <a:r>
              <a:rPr sz="2750" spc="5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their</a:t>
            </a:r>
            <a:r>
              <a:rPr sz="2750" spc="5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number </a:t>
            </a:r>
            <a:r>
              <a:rPr sz="2700" dirty="0">
                <a:latin typeface="Cambria"/>
                <a:cs typeface="Cambria"/>
              </a:rPr>
              <a:t>increases</a:t>
            </a:r>
            <a:r>
              <a:rPr sz="2700" spc="24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with</a:t>
            </a:r>
            <a:r>
              <a:rPr sz="2700" spc="3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204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number</a:t>
            </a:r>
            <a:r>
              <a:rPr sz="2700" spc="23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of </a:t>
            </a:r>
            <a:r>
              <a:rPr sz="2850" spc="-80" dirty="0">
                <a:latin typeface="Cambria"/>
                <a:cs typeface="Cambria"/>
              </a:rPr>
              <a:t>memories</a:t>
            </a:r>
            <a:r>
              <a:rPr sz="2850" spc="2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stored.</a:t>
            </a:r>
            <a:endParaRPr sz="285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2382" y="7922330"/>
            <a:ext cx="225361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dirty="0">
                <a:solidFill>
                  <a:srgbClr val="4F4F4F"/>
                </a:solidFill>
                <a:latin typeface="Cambria"/>
                <a:cs typeface="Cambria"/>
              </a:rPr>
              <a:t>True</a:t>
            </a:r>
            <a:r>
              <a:rPr sz="2550" spc="295" dirty="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545454"/>
                </a:solidFill>
                <a:latin typeface="Cambria"/>
                <a:cs typeface="Cambria"/>
              </a:rPr>
              <a:t>Memories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73291" y="2557991"/>
            <a:ext cx="13335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>
                <a:solidFill>
                  <a:srgbClr val="4D4D4D"/>
                </a:solidFill>
                <a:latin typeface="Cambria"/>
                <a:cs typeface="Cambria"/>
              </a:rPr>
              <a:t>Spurious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22855" y="2557991"/>
            <a:ext cx="44323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20" dirty="0">
                <a:solidFill>
                  <a:srgbClr val="545454"/>
                </a:solidFill>
                <a:latin typeface="Cambria"/>
                <a:cs typeface="Cambria"/>
              </a:rPr>
              <a:t>ma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07030" y="9439980"/>
            <a:ext cx="120014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1100" y="4686300"/>
            <a:ext cx="1955800" cy="1651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9700" y="3149600"/>
            <a:ext cx="4457700" cy="355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9700" y="3594100"/>
            <a:ext cx="4457700" cy="368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89700" y="4051300"/>
            <a:ext cx="4457700" cy="368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89700" y="4508500"/>
            <a:ext cx="4457700" cy="355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9700" y="4965700"/>
            <a:ext cx="4457700" cy="355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89700" y="5422900"/>
            <a:ext cx="4457700" cy="355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89700" y="5880100"/>
            <a:ext cx="4457700" cy="355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89700" y="6337300"/>
            <a:ext cx="4457700" cy="355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89700" y="6781800"/>
            <a:ext cx="4457700" cy="368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89700" y="7239000"/>
            <a:ext cx="4457700" cy="355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89700" y="7696200"/>
            <a:ext cx="4457700" cy="3556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379700" y="4800600"/>
            <a:ext cx="355600" cy="35560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690600" y="4622800"/>
            <a:ext cx="2463800" cy="1041400"/>
            <a:chOff x="13690600" y="4622800"/>
            <a:chExt cx="2463800" cy="1041400"/>
          </a:xfrm>
        </p:grpSpPr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73200" y="4622800"/>
              <a:ext cx="965200" cy="406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90600" y="5029200"/>
              <a:ext cx="863600" cy="508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681200" y="5207000"/>
              <a:ext cx="1473200" cy="457200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173200" y="6159500"/>
            <a:ext cx="965200" cy="4572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287" rIns="0" bIns="0" rtlCol="0">
            <a:spAutoFit/>
          </a:bodyPr>
          <a:lstStyle/>
          <a:p>
            <a:pPr marL="429259">
              <a:lnSpc>
                <a:spcPct val="100000"/>
              </a:lnSpc>
              <a:spcBef>
                <a:spcPts val="95"/>
              </a:spcBef>
            </a:pPr>
            <a:r>
              <a:rPr sz="5700" spc="-345" dirty="0">
                <a:solidFill>
                  <a:srgbClr val="161616"/>
                </a:solidFill>
                <a:latin typeface="Cambria"/>
                <a:cs typeface="Cambria"/>
              </a:rPr>
              <a:t>The</a:t>
            </a:r>
            <a:r>
              <a:rPr sz="5700" spc="3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5700" spc="-175" dirty="0">
                <a:solidFill>
                  <a:srgbClr val="111111"/>
                </a:solidFill>
                <a:latin typeface="Cambria"/>
                <a:cs typeface="Cambria"/>
              </a:rPr>
              <a:t>Capacity</a:t>
            </a:r>
            <a:r>
              <a:rPr sz="5700" spc="-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5700" spc="-260" dirty="0">
                <a:solidFill>
                  <a:srgbClr val="131313"/>
                </a:solidFill>
                <a:latin typeface="Cambria"/>
                <a:cs typeface="Cambria"/>
              </a:rPr>
              <a:t>Bottleneck:</a:t>
            </a:r>
            <a:r>
              <a:rPr sz="5700" spc="5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5700" spc="-285" dirty="0">
                <a:solidFill>
                  <a:srgbClr val="232323"/>
                </a:solidFill>
                <a:latin typeface="Cambria"/>
                <a:cs typeface="Cambria"/>
              </a:rPr>
              <a:t>A</a:t>
            </a:r>
            <a:r>
              <a:rPr sz="5700" spc="-50" dirty="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sz="5700" spc="-170" dirty="0">
                <a:solidFill>
                  <a:srgbClr val="151515"/>
                </a:solidFill>
                <a:latin typeface="Cambria"/>
                <a:cs typeface="Cambria"/>
              </a:rPr>
              <a:t>Strict</a:t>
            </a:r>
            <a:r>
              <a:rPr sz="5700" spc="-3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5700" spc="-135" dirty="0">
                <a:solidFill>
                  <a:srgbClr val="181818"/>
                </a:solidFill>
                <a:latin typeface="Cambria"/>
                <a:cs typeface="Cambria"/>
              </a:rPr>
              <a:t>Limit</a:t>
            </a:r>
            <a:r>
              <a:rPr sz="5700" spc="110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5700" spc="-225" dirty="0">
                <a:solidFill>
                  <a:srgbClr val="1A1A1A"/>
                </a:solidFill>
                <a:latin typeface="Cambria"/>
                <a:cs typeface="Cambria"/>
              </a:rPr>
              <a:t>on</a:t>
            </a:r>
            <a:r>
              <a:rPr sz="5700" spc="-17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5700" spc="-350" dirty="0">
                <a:solidFill>
                  <a:srgbClr val="161616"/>
                </a:solidFill>
                <a:latin typeface="Cambria"/>
                <a:cs typeface="Cambria"/>
              </a:rPr>
              <a:t>Knowledge</a:t>
            </a:r>
            <a:endParaRPr sz="570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66531" y="2522008"/>
            <a:ext cx="4590415" cy="2152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445">
              <a:lnSpc>
                <a:spcPct val="101400"/>
              </a:lnSpc>
              <a:spcBef>
                <a:spcPts val="50"/>
              </a:spcBef>
            </a:pPr>
            <a:r>
              <a:rPr sz="2300" spc="-10" dirty="0">
                <a:latin typeface="Arial MT"/>
                <a:cs typeface="Arial MT"/>
              </a:rPr>
              <a:t>The</a:t>
            </a:r>
            <a:r>
              <a:rPr sz="2300" spc="-2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Limitation:</a:t>
            </a:r>
            <a:r>
              <a:rPr sz="2300" spc="254" dirty="0">
                <a:latin typeface="Arial MT"/>
                <a:cs typeface="Arial MT"/>
              </a:rPr>
              <a:t> </a:t>
            </a:r>
            <a:r>
              <a:rPr sz="2300" spc="-280" dirty="0">
                <a:latin typeface="Arial MT"/>
                <a:cs typeface="Arial MT"/>
              </a:rPr>
              <a:t>A</a:t>
            </a:r>
            <a:r>
              <a:rPr sz="2300" spc="1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fully</a:t>
            </a:r>
            <a:r>
              <a:rPr sz="2300" spc="20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connected </a:t>
            </a:r>
            <a:r>
              <a:rPr sz="2300" dirty="0">
                <a:latin typeface="Arial MT"/>
                <a:cs typeface="Arial MT"/>
              </a:rPr>
              <a:t>Hopfield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Network</a:t>
            </a:r>
            <a:r>
              <a:rPr sz="2300" spc="9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with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N</a:t>
            </a:r>
            <a:r>
              <a:rPr sz="2300" spc="-1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units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has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a </a:t>
            </a:r>
            <a:r>
              <a:rPr sz="2300" spc="-20" dirty="0">
                <a:latin typeface="Arial MT"/>
                <a:cs typeface="Arial MT"/>
              </a:rPr>
              <a:t>surprisingly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low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storage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capacity.</a:t>
            </a:r>
            <a:r>
              <a:rPr sz="2300" spc="-15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It </a:t>
            </a:r>
            <a:r>
              <a:rPr sz="2300" dirty="0">
                <a:latin typeface="Arial MT"/>
                <a:cs typeface="Arial MT"/>
              </a:rPr>
              <a:t>can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only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reliably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store </a:t>
            </a:r>
            <a:r>
              <a:rPr sz="2300" spc="-25" dirty="0">
                <a:latin typeface="Arial MT"/>
                <a:cs typeface="Arial MT"/>
              </a:rPr>
              <a:t>approximately</a:t>
            </a:r>
            <a:r>
              <a:rPr sz="2300" spc="65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0.15N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memory patterns.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6208" y="4985808"/>
            <a:ext cx="4092575" cy="14414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7145">
              <a:lnSpc>
                <a:spcPct val="101400"/>
              </a:lnSpc>
              <a:spcBef>
                <a:spcPts val="50"/>
              </a:spcBef>
            </a:pPr>
            <a:r>
              <a:rPr sz="2300" dirty="0">
                <a:latin typeface="Arial MT"/>
                <a:cs typeface="Arial MT"/>
              </a:rPr>
              <a:t>Implication:</a:t>
            </a:r>
            <a:r>
              <a:rPr sz="2300" spc="90" dirty="0">
                <a:latin typeface="Arial MT"/>
                <a:cs typeface="Arial MT"/>
              </a:rPr>
              <a:t> </a:t>
            </a:r>
            <a:r>
              <a:rPr sz="2300" spc="-204" dirty="0">
                <a:latin typeface="Arial MT"/>
                <a:cs typeface="Arial MT"/>
              </a:rPr>
              <a:t>To</a:t>
            </a:r>
            <a:r>
              <a:rPr sz="2300" spc="9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store</a:t>
            </a:r>
            <a:r>
              <a:rPr sz="2300" spc="22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just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15 </a:t>
            </a:r>
            <a:r>
              <a:rPr sz="2300" dirty="0">
                <a:latin typeface="Arial MT"/>
                <a:cs typeface="Arial MT"/>
              </a:rPr>
              <a:t>patterns,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you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need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network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of </a:t>
            </a:r>
            <a:r>
              <a:rPr sz="2300" dirty="0">
                <a:latin typeface="Arial MT"/>
                <a:cs typeface="Arial MT"/>
              </a:rPr>
              <a:t>100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units.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This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scaling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is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highly inefficient.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1958" y="6751108"/>
            <a:ext cx="4554855" cy="179641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30480" indent="3175">
              <a:lnSpc>
                <a:spcPct val="95100"/>
              </a:lnSpc>
              <a:spcBef>
                <a:spcPts val="225"/>
              </a:spcBef>
            </a:pPr>
            <a:r>
              <a:rPr sz="2300" spc="-10" dirty="0">
                <a:latin typeface="Arial MT"/>
                <a:cs typeface="Arial MT"/>
              </a:rPr>
              <a:t>The</a:t>
            </a:r>
            <a:r>
              <a:rPr sz="2300" spc="-19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Cost:</a:t>
            </a:r>
            <a:r>
              <a:rPr sz="2300" spc="-1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Storing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these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memories </a:t>
            </a:r>
            <a:r>
              <a:rPr sz="2300" spc="-30" dirty="0">
                <a:latin typeface="Arial MT"/>
                <a:cs typeface="Arial MT"/>
              </a:rPr>
              <a:t>requires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N</a:t>
            </a:r>
            <a:r>
              <a:rPr sz="2250" baseline="27777" dirty="0">
                <a:latin typeface="Arial MT"/>
                <a:cs typeface="Arial MT"/>
              </a:rPr>
              <a:t>2</a:t>
            </a:r>
            <a:r>
              <a:rPr sz="2300" dirty="0">
                <a:latin typeface="Arial MT"/>
                <a:cs typeface="Arial MT"/>
              </a:rPr>
              <a:t>/2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weights.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The </a:t>
            </a:r>
            <a:r>
              <a:rPr sz="2500" spc="-95" dirty="0">
                <a:latin typeface="Arial MT"/>
                <a:cs typeface="Arial MT"/>
              </a:rPr>
              <a:t>information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120" dirty="0">
                <a:latin typeface="Arial MT"/>
                <a:cs typeface="Arial MT"/>
              </a:rPr>
              <a:t>storage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95" dirty="0">
                <a:latin typeface="Arial MT"/>
                <a:cs typeface="Arial MT"/>
              </a:rPr>
              <a:t>is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vastly </a:t>
            </a:r>
            <a:r>
              <a:rPr sz="2500" spc="-60" dirty="0">
                <a:latin typeface="Arial MT"/>
                <a:cs typeface="Arial MT"/>
              </a:rPr>
              <a:t>inefficient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spc="-135" dirty="0">
                <a:latin typeface="Arial MT"/>
                <a:cs typeface="Arial MT"/>
              </a:rPr>
              <a:t>compared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to</a:t>
            </a:r>
            <a:r>
              <a:rPr sz="2500" spc="-140" dirty="0">
                <a:latin typeface="Arial MT"/>
                <a:cs typeface="Arial MT"/>
              </a:rPr>
              <a:t> </a:t>
            </a:r>
            <a:r>
              <a:rPr sz="2500" spc="-110" dirty="0">
                <a:latin typeface="Arial MT"/>
                <a:cs typeface="Arial MT"/>
              </a:rPr>
              <a:t>the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number </a:t>
            </a:r>
            <a:r>
              <a:rPr sz="2500" spc="-20" dirty="0">
                <a:latin typeface="Arial MT"/>
                <a:cs typeface="Arial MT"/>
              </a:rPr>
              <a:t>of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parameters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used.</a:t>
            </a:r>
            <a:endParaRPr sz="25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84146" y="2494491"/>
            <a:ext cx="203073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Arial MT"/>
                <a:cs typeface="Arial MT"/>
              </a:rPr>
              <a:t>100</a:t>
            </a:r>
            <a:r>
              <a:rPr sz="2700" spc="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Units</a:t>
            </a:r>
            <a:r>
              <a:rPr sz="2700" spc="114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(N)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62201" y="5538258"/>
            <a:ext cx="105283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5165" algn="l"/>
              </a:tabLst>
            </a:pPr>
            <a:r>
              <a:rPr sz="3550" i="1" spc="155" dirty="0">
                <a:solidFill>
                  <a:srgbClr val="4B6785"/>
                </a:solidFill>
                <a:latin typeface="Arial"/>
                <a:cs typeface="Arial"/>
              </a:rPr>
              <a:t>H</a:t>
            </a:r>
            <a:r>
              <a:rPr sz="3550" i="1" dirty="0">
                <a:solidFill>
                  <a:srgbClr val="4B6785"/>
                </a:solidFill>
                <a:latin typeface="Arial"/>
                <a:cs typeface="Arial"/>
              </a:rPr>
              <a:t>	</a:t>
            </a:r>
            <a:r>
              <a:rPr sz="3550" i="1" spc="155" dirty="0">
                <a:solidFill>
                  <a:srgbClr val="486985"/>
                </a:solidFill>
                <a:latin typeface="Arial"/>
                <a:cs typeface="Arial"/>
              </a:rPr>
              <a:t>H</a:t>
            </a:r>
            <a:endParaRPr sz="3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039568" y="5853641"/>
            <a:ext cx="95504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0860" algn="l"/>
              </a:tabLst>
            </a:pPr>
            <a:r>
              <a:rPr sz="3950" spc="75" dirty="0">
                <a:solidFill>
                  <a:srgbClr val="4B6682"/>
                </a:solidFill>
                <a:latin typeface="Arial MT"/>
                <a:cs typeface="Arial MT"/>
              </a:rPr>
              <a:t>"</a:t>
            </a:r>
            <a:r>
              <a:rPr sz="3950" dirty="0">
                <a:solidFill>
                  <a:srgbClr val="4B6682"/>
                </a:solidFill>
                <a:latin typeface="Arial MT"/>
                <a:cs typeface="Arial MT"/>
              </a:rPr>
              <a:t>	</a:t>
            </a:r>
            <a:r>
              <a:rPr sz="3950" spc="-805" dirty="0">
                <a:solidFill>
                  <a:srgbClr val="4B6985"/>
                </a:solidFill>
                <a:latin typeface="Arial MT"/>
                <a:cs typeface="Arial MT"/>
              </a:rPr>
              <a:t>■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459764" y="6849533"/>
            <a:ext cx="2881630" cy="8382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817880" marR="5080" indent="-805815">
              <a:lnSpc>
                <a:spcPts val="2900"/>
              </a:lnSpc>
              <a:spcBef>
                <a:spcPts val="695"/>
              </a:spcBef>
            </a:pPr>
            <a:r>
              <a:rPr sz="2900" spc="-220" dirty="0">
                <a:latin typeface="Arial MT"/>
                <a:cs typeface="Arial MT"/>
              </a:rPr>
              <a:t>15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Stored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Patterns </a:t>
            </a:r>
            <a:r>
              <a:rPr sz="2900" spc="-85" dirty="0">
                <a:latin typeface="Arial MT"/>
                <a:cs typeface="Arial MT"/>
              </a:rPr>
              <a:t>(-</a:t>
            </a:r>
            <a:r>
              <a:rPr sz="2900" spc="-10" dirty="0">
                <a:latin typeface="Arial MT"/>
                <a:cs typeface="Arial MT"/>
              </a:rPr>
              <a:t>0.15N)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5700" y="3022600"/>
            <a:ext cx="4114800" cy="2489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8900" y="3022600"/>
            <a:ext cx="3886200" cy="2489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0" y="3721100"/>
            <a:ext cx="952500" cy="889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3396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130"/>
              </a:spcBef>
            </a:pPr>
            <a:r>
              <a:rPr sz="6150" spc="-105" dirty="0"/>
              <a:t>The</a:t>
            </a:r>
            <a:r>
              <a:rPr sz="6150" spc="-280" dirty="0"/>
              <a:t> </a:t>
            </a:r>
            <a:r>
              <a:rPr sz="6150" spc="-140" dirty="0"/>
              <a:t>Evolutionary</a:t>
            </a:r>
            <a:r>
              <a:rPr sz="6150" spc="-245" dirty="0"/>
              <a:t> </a:t>
            </a:r>
            <a:r>
              <a:rPr sz="6150" spc="-190" dirty="0"/>
              <a:t>Leap:</a:t>
            </a:r>
            <a:r>
              <a:rPr sz="6150" spc="-195" dirty="0"/>
              <a:t> </a:t>
            </a:r>
            <a:r>
              <a:rPr sz="6150" spc="-35" dirty="0"/>
              <a:t>Introducing</a:t>
            </a:r>
            <a:r>
              <a:rPr sz="6150" spc="-275" dirty="0"/>
              <a:t> </a:t>
            </a:r>
            <a:r>
              <a:rPr sz="6150" spc="-85" dirty="0"/>
              <a:t>Stochasticity</a:t>
            </a:r>
            <a:endParaRPr sz="6150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21751" y="4052005"/>
            <a:ext cx="62928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2600" algn="l"/>
              </a:tabLst>
            </a:pPr>
            <a:r>
              <a:rPr sz="1950" dirty="0">
                <a:latin typeface="Arial MT"/>
                <a:cs typeface="Arial MT"/>
              </a:rPr>
              <a:t>	</a:t>
            </a:r>
            <a:r>
              <a:rPr sz="1950" spc="-50" dirty="0">
                <a:latin typeface="Arial MT"/>
                <a:cs typeface="Arial MT"/>
              </a:rPr>
              <a:t>0</a:t>
            </a:r>
            <a:endParaRPr sz="19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9006" y="1922991"/>
            <a:ext cx="2861310" cy="995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5"/>
              </a:spcBef>
            </a:pPr>
            <a:r>
              <a:rPr sz="2700" u="sng" spc="-10" dirty="0">
                <a:latin typeface="Arial MT"/>
                <a:cs typeface="Arial MT"/>
              </a:rPr>
              <a:t>Deterministic</a:t>
            </a:r>
            <a:endParaRPr sz="2700" u="sng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150" spc="60" dirty="0">
                <a:latin typeface="Arial MT"/>
                <a:cs typeface="Arial MT"/>
              </a:rPr>
              <a:t>Hopfield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spc="90" dirty="0">
                <a:latin typeface="Arial MT"/>
                <a:cs typeface="Arial MT"/>
              </a:rPr>
              <a:t>Network</a:t>
            </a:r>
            <a:r>
              <a:rPr sz="2150" spc="95" dirty="0">
                <a:latin typeface="Arial MT"/>
                <a:cs typeface="Arial MT"/>
              </a:rPr>
              <a:t> </a:t>
            </a:r>
            <a:r>
              <a:rPr sz="2150" spc="50" dirty="0">
                <a:latin typeface="Arial MT"/>
                <a:cs typeface="Arial MT"/>
              </a:rPr>
              <a:t>Unit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1173" y="1922991"/>
            <a:ext cx="3164840" cy="995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3495" algn="ctr">
              <a:lnSpc>
                <a:spcPct val="100000"/>
              </a:lnSpc>
              <a:spcBef>
                <a:spcPts val="105"/>
              </a:spcBef>
            </a:pPr>
            <a:r>
              <a:rPr sz="2700" u="sng" spc="-10" dirty="0">
                <a:latin typeface="Arial MT"/>
                <a:cs typeface="Arial MT"/>
              </a:rPr>
              <a:t>Stochastic</a:t>
            </a:r>
            <a:endParaRPr sz="2700" u="sng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810"/>
              </a:spcBef>
            </a:pPr>
            <a:r>
              <a:rPr sz="2150" spc="60" dirty="0">
                <a:latin typeface="Arial MT"/>
                <a:cs typeface="Arial MT"/>
              </a:rPr>
              <a:t>Boltzmann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50" dirty="0">
                <a:latin typeface="Arial MT"/>
                <a:cs typeface="Arial MT"/>
              </a:rPr>
              <a:t>Machine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50" dirty="0">
                <a:latin typeface="Arial MT"/>
                <a:cs typeface="Arial MT"/>
              </a:rPr>
              <a:t>Unit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9189" y="5493455"/>
            <a:ext cx="98679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0" dirty="0">
                <a:latin typeface="Arial MT"/>
                <a:cs typeface="Arial MT"/>
              </a:rPr>
              <a:t>Net</a:t>
            </a:r>
            <a:r>
              <a:rPr sz="1950" spc="-114" dirty="0">
                <a:latin typeface="Arial MT"/>
                <a:cs typeface="Arial MT"/>
              </a:rPr>
              <a:t> </a:t>
            </a:r>
            <a:r>
              <a:rPr sz="1950" spc="-40" dirty="0">
                <a:latin typeface="Arial MT"/>
                <a:cs typeface="Arial MT"/>
              </a:rPr>
              <a:t>Input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30324" y="4484863"/>
            <a:ext cx="1120140" cy="7905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5875" marR="5080" indent="-3810">
              <a:lnSpc>
                <a:spcPts val="1950"/>
              </a:lnSpc>
              <a:spcBef>
                <a:spcPts val="275"/>
              </a:spcBef>
            </a:pPr>
            <a:r>
              <a:rPr sz="1700" dirty="0">
                <a:latin typeface="Arial MT"/>
                <a:cs typeface="Arial MT"/>
              </a:rPr>
              <a:t>Adjusting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T </a:t>
            </a:r>
            <a:r>
              <a:rPr sz="1800" spc="-10" dirty="0">
                <a:latin typeface="Arial MT"/>
                <a:cs typeface="Arial MT"/>
              </a:rPr>
              <a:t>changes </a:t>
            </a:r>
            <a:r>
              <a:rPr sz="1950" spc="-45" dirty="0">
                <a:latin typeface="Arial MT"/>
                <a:cs typeface="Arial MT"/>
              </a:rPr>
              <a:t>steepness</a:t>
            </a:r>
            <a:endParaRPr sz="19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81146" y="5475816"/>
            <a:ext cx="151003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40" dirty="0">
                <a:latin typeface="Arial MT"/>
                <a:cs typeface="Arial MT"/>
              </a:rPr>
              <a:t>Net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spc="-65" dirty="0">
                <a:latin typeface="Arial MT"/>
                <a:cs typeface="Arial MT"/>
              </a:rPr>
              <a:t>Input</a:t>
            </a:r>
            <a:r>
              <a:rPr sz="2050" spc="-70" dirty="0">
                <a:latin typeface="Arial MT"/>
                <a:cs typeface="Arial MT"/>
              </a:rPr>
              <a:t> </a:t>
            </a:r>
            <a:r>
              <a:rPr sz="2050" spc="-210" dirty="0">
                <a:latin typeface="Arial MT"/>
                <a:cs typeface="Arial MT"/>
              </a:rPr>
              <a:t>(AE,)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00977" y="3275188"/>
            <a:ext cx="214629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50" dirty="0">
                <a:latin typeface="Arial MT"/>
                <a:cs typeface="Arial MT"/>
              </a:rPr>
              <a:t>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8495" y="6117351"/>
            <a:ext cx="15379700" cy="14382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380"/>
              </a:spcBef>
              <a:buChar char="•"/>
              <a:tabLst>
                <a:tab pos="276225" algn="l"/>
              </a:tabLst>
            </a:pPr>
            <a:r>
              <a:rPr sz="2700" spc="-10" dirty="0">
                <a:latin typeface="Arial MT"/>
                <a:cs typeface="Arial MT"/>
              </a:rPr>
              <a:t>The</a:t>
            </a:r>
            <a:r>
              <a:rPr sz="2700" spc="-3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Innovation:</a:t>
            </a:r>
            <a:r>
              <a:rPr sz="2700" spc="-125" dirty="0">
                <a:latin typeface="Arial MT"/>
                <a:cs typeface="Arial MT"/>
              </a:rPr>
              <a:t> </a:t>
            </a:r>
            <a:r>
              <a:rPr sz="2700" spc="-45" dirty="0">
                <a:latin typeface="Arial MT"/>
                <a:cs typeface="Arial MT"/>
              </a:rPr>
              <a:t>The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Boltzmann</a:t>
            </a:r>
            <a:r>
              <a:rPr sz="2700" spc="-40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Machine,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an</a:t>
            </a:r>
            <a:r>
              <a:rPr sz="2700" spc="-95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extension</a:t>
            </a:r>
            <a:r>
              <a:rPr sz="2700" dirty="0">
                <a:latin typeface="Arial MT"/>
                <a:cs typeface="Arial MT"/>
              </a:rPr>
              <a:t> of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Hopfield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network,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replaces</a:t>
            </a:r>
            <a:r>
              <a:rPr sz="2700" spc="6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deterministic</a:t>
            </a:r>
            <a:endParaRPr sz="2700" dirty="0">
              <a:latin typeface="Arial MT"/>
              <a:cs typeface="Arial MT"/>
            </a:endParaRPr>
          </a:p>
          <a:p>
            <a:pPr marL="274955">
              <a:lnSpc>
                <a:spcPct val="100000"/>
              </a:lnSpc>
              <a:spcBef>
                <a:spcPts val="310"/>
              </a:spcBef>
            </a:pPr>
            <a:r>
              <a:rPr sz="2750" dirty="0">
                <a:latin typeface="Arial MT"/>
                <a:cs typeface="Arial MT"/>
              </a:rPr>
              <a:t>units</a:t>
            </a:r>
            <a:r>
              <a:rPr sz="2750" spc="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with</a:t>
            </a:r>
            <a:r>
              <a:rPr sz="2750" spc="-105" dirty="0"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4F6070"/>
                </a:solidFill>
                <a:latin typeface="Arial MT"/>
                <a:cs typeface="Arial MT"/>
              </a:rPr>
              <a:t>stochastic</a:t>
            </a:r>
            <a:r>
              <a:rPr sz="2750" spc="204" dirty="0">
                <a:solidFill>
                  <a:srgbClr val="4F6070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ones.</a:t>
            </a:r>
            <a:endParaRPr sz="2750" dirty="0">
              <a:latin typeface="Arial MT"/>
              <a:cs typeface="Arial MT"/>
            </a:endParaRPr>
          </a:p>
          <a:p>
            <a:pPr marL="271780" indent="-259079">
              <a:lnSpc>
                <a:spcPct val="100000"/>
              </a:lnSpc>
              <a:spcBef>
                <a:spcPts val="750"/>
              </a:spcBef>
              <a:buChar char="•"/>
              <a:tabLst>
                <a:tab pos="271780" algn="l"/>
              </a:tabLst>
            </a:pPr>
            <a:r>
              <a:rPr sz="2700" dirty="0">
                <a:latin typeface="Arial MT"/>
                <a:cs typeface="Arial MT"/>
              </a:rPr>
              <a:t>Mechanism:</a:t>
            </a:r>
            <a:r>
              <a:rPr sz="2700" spc="-150" dirty="0">
                <a:latin typeface="Arial MT"/>
                <a:cs typeface="Arial MT"/>
              </a:rPr>
              <a:t> </a:t>
            </a:r>
            <a:r>
              <a:rPr sz="2700" spc="-254" dirty="0">
                <a:latin typeface="Arial MT"/>
                <a:cs typeface="Arial MT"/>
              </a:rPr>
              <a:t>A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unit's</a:t>
            </a:r>
            <a:r>
              <a:rPr sz="2700" spc="7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state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18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no</a:t>
            </a:r>
            <a:r>
              <a:rPr sz="2700" spc="-6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longer</a:t>
            </a:r>
            <a:r>
              <a:rPr sz="2700" spc="65" dirty="0">
                <a:latin typeface="Arial MT"/>
                <a:cs typeface="Arial MT"/>
              </a:rPr>
              <a:t> </a:t>
            </a:r>
            <a:r>
              <a:rPr sz="2700" spc="-254" dirty="0">
                <a:latin typeface="Arial MT"/>
                <a:cs typeface="Arial MT"/>
              </a:rPr>
              <a:t>a</a:t>
            </a:r>
            <a:r>
              <a:rPr sz="2700" spc="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fixed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outcome.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Instead,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1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flips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its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state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with</a:t>
            </a:r>
            <a:r>
              <a:rPr sz="2700" spc="-135" dirty="0">
                <a:latin typeface="Arial MT"/>
                <a:cs typeface="Arial MT"/>
              </a:rPr>
              <a:t> a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probability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7012" y="7574491"/>
            <a:ext cx="1429067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2203430" algn="l"/>
                <a:tab pos="12888595" algn="l"/>
                <a:tab pos="13477240" algn="l"/>
                <a:tab pos="14251940" algn="l"/>
              </a:tabLst>
            </a:pPr>
            <a:r>
              <a:rPr sz="2700" spc="-30" dirty="0">
                <a:latin typeface="Arial MT"/>
                <a:cs typeface="Arial MT"/>
              </a:rPr>
              <a:t>governed</a:t>
            </a:r>
            <a:r>
              <a:rPr sz="2700" spc="-1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by</a:t>
            </a:r>
            <a:r>
              <a:rPr sz="2700" spc="-1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85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energy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change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175" dirty="0">
                <a:latin typeface="Arial MT"/>
                <a:cs typeface="Arial MT"/>
              </a:rPr>
              <a:t>(AE)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and</a:t>
            </a:r>
            <a:r>
              <a:rPr sz="2700" spc="-95" dirty="0">
                <a:latin typeface="Arial MT"/>
                <a:cs typeface="Arial MT"/>
              </a:rPr>
              <a:t> </a:t>
            </a:r>
            <a:r>
              <a:rPr sz="2700" spc="-135" dirty="0">
                <a:latin typeface="Arial MT"/>
                <a:cs typeface="Arial MT"/>
              </a:rPr>
              <a:t>a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new</a:t>
            </a:r>
            <a:r>
              <a:rPr sz="2700" spc="-12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parameter: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526677"/>
                </a:solidFill>
                <a:latin typeface="Arial MT"/>
                <a:cs typeface="Arial MT"/>
              </a:rPr>
              <a:t>Temperature</a:t>
            </a:r>
            <a:r>
              <a:rPr sz="2700" spc="-15" dirty="0">
                <a:solidFill>
                  <a:srgbClr val="526677"/>
                </a:solidFill>
                <a:latin typeface="Arial MT"/>
                <a:cs typeface="Arial MT"/>
              </a:rPr>
              <a:t> </a:t>
            </a:r>
            <a:r>
              <a:rPr sz="2700" spc="-60" dirty="0">
                <a:latin typeface="Arial MT"/>
                <a:cs typeface="Arial MT"/>
              </a:rPr>
              <a:t>(T).</a:t>
            </a:r>
            <a:r>
              <a:rPr sz="2700" spc="-26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p(z,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280" dirty="0">
                <a:latin typeface="Arial MT"/>
                <a:cs typeface="Arial MT"/>
              </a:rPr>
              <a:t>1)</a:t>
            </a:r>
            <a:r>
              <a:rPr sz="2700" spc="290" dirty="0">
                <a:latin typeface="Arial MT"/>
                <a:cs typeface="Arial MT"/>
              </a:rPr>
              <a:t> </a:t>
            </a:r>
            <a:r>
              <a:rPr sz="2700" spc="-1400" dirty="0">
                <a:solidFill>
                  <a:srgbClr val="313131"/>
                </a:solidFill>
                <a:latin typeface="Arial MT"/>
                <a:cs typeface="Arial MT"/>
              </a:rPr>
              <a:t>—</a:t>
            </a:r>
            <a:r>
              <a:rPr sz="2700" dirty="0">
                <a:solidFill>
                  <a:srgbClr val="313131"/>
                </a:solidFill>
                <a:latin typeface="Arial MT"/>
                <a:cs typeface="Arial MT"/>
              </a:rPr>
              <a:t>	</a:t>
            </a:r>
            <a:r>
              <a:rPr sz="3525" u="heavy" baseline="35460" dirty="0">
                <a:uFill>
                  <a:solidFill>
                    <a:srgbClr val="28231F"/>
                  </a:solidFill>
                </a:uFill>
                <a:latin typeface="Courier New"/>
                <a:cs typeface="Courier New"/>
              </a:rPr>
              <a:t>	</a:t>
            </a:r>
            <a:r>
              <a:rPr sz="3525" u="heavy" spc="-89" baseline="35460" dirty="0">
                <a:uFill>
                  <a:solidFill>
                    <a:srgbClr val="28231F"/>
                  </a:solidFill>
                </a:uFill>
                <a:latin typeface="Courier New"/>
                <a:cs typeface="Courier New"/>
              </a:rPr>
              <a:t>1</a:t>
            </a:r>
            <a:r>
              <a:rPr sz="3525" u="heavy" baseline="35460" dirty="0">
                <a:uFill>
                  <a:solidFill>
                    <a:srgbClr val="28231F"/>
                  </a:solidFill>
                </a:uFill>
                <a:latin typeface="Courier New"/>
                <a:cs typeface="Courier New"/>
              </a:rPr>
              <a:t>	</a:t>
            </a:r>
            <a:endParaRPr sz="3525" baseline="3546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8495" y="7809089"/>
            <a:ext cx="15238730" cy="12325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760730" algn="r">
              <a:lnSpc>
                <a:spcPts val="2735"/>
              </a:lnSpc>
              <a:spcBef>
                <a:spcPts val="110"/>
              </a:spcBef>
            </a:pPr>
            <a:r>
              <a:rPr sz="2350" spc="-95" dirty="0">
                <a:latin typeface="Courier New"/>
                <a:cs typeface="Courier New"/>
              </a:rPr>
              <a:t>1-Fe-</a:t>
            </a:r>
            <a:r>
              <a:rPr sz="2350" spc="-25" dirty="0">
                <a:latin typeface="Courier New"/>
                <a:cs typeface="Courier New"/>
              </a:rPr>
              <a:t>’'*</a:t>
            </a:r>
            <a:endParaRPr sz="2350" dirty="0">
              <a:latin typeface="Courier New"/>
              <a:cs typeface="Courier New"/>
            </a:endParaRPr>
          </a:p>
          <a:p>
            <a:pPr marL="276860" indent="-264160">
              <a:lnSpc>
                <a:spcPts val="3155"/>
              </a:lnSpc>
              <a:buChar char="•"/>
              <a:tabLst>
                <a:tab pos="276860" algn="l"/>
                <a:tab pos="6028055" algn="l"/>
              </a:tabLst>
            </a:pPr>
            <a:r>
              <a:rPr sz="2700" spc="-10" dirty="0">
                <a:latin typeface="Arial MT"/>
                <a:cs typeface="Arial MT"/>
              </a:rPr>
              <a:t>The</a:t>
            </a:r>
            <a:r>
              <a:rPr sz="2700" spc="-26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Power</a:t>
            </a:r>
            <a:r>
              <a:rPr sz="2700" spc="-1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5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Noise:</a:t>
            </a:r>
            <a:r>
              <a:rPr sz="2700" spc="-4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This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probabilistic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40" dirty="0">
                <a:latin typeface="Arial MT"/>
                <a:cs typeface="Arial MT"/>
              </a:rPr>
              <a:t>behavior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is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key.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-30" dirty="0">
                <a:latin typeface="Arial MT"/>
                <a:cs typeface="Arial MT"/>
              </a:rPr>
              <a:t> allows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network</a:t>
            </a:r>
            <a:r>
              <a:rPr sz="2700" spc="10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occasionally</a:t>
            </a:r>
            <a:r>
              <a:rPr sz="2700" spc="16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make</a:t>
            </a:r>
            <a:endParaRPr sz="2700" dirty="0">
              <a:latin typeface="Arial MT"/>
              <a:cs typeface="Arial MT"/>
            </a:endParaRPr>
          </a:p>
          <a:p>
            <a:pPr marL="282575">
              <a:lnSpc>
                <a:spcPct val="100000"/>
              </a:lnSpc>
              <a:spcBef>
                <a:spcPts val="360"/>
              </a:spcBef>
            </a:pPr>
            <a:r>
              <a:rPr sz="2700" dirty="0">
                <a:latin typeface="Arial MT"/>
                <a:cs typeface="Arial MT"/>
              </a:rPr>
              <a:t>'uphill'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moves,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enabling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it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10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jump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out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shallow,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undesirable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minima.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91F4C-B0F5-279A-13FB-8A99117591EC}"/>
              </a:ext>
            </a:extLst>
          </p:cNvPr>
          <p:cNvSpPr txBox="1"/>
          <p:nvPr/>
        </p:nvSpPr>
        <p:spPr>
          <a:xfrm rot="16200000">
            <a:off x="3493088" y="4043700"/>
            <a:ext cx="517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 ( -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5524500"/>
            <a:ext cx="6781800" cy="353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2200" y="5041900"/>
            <a:ext cx="50800" cy="4241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1300" y="5524500"/>
            <a:ext cx="6781800" cy="3568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287" rIns="0" bIns="0" rtlCol="0">
            <a:spAutoFit/>
          </a:bodyPr>
          <a:lstStyle/>
          <a:p>
            <a:pPr marL="417195">
              <a:lnSpc>
                <a:spcPct val="100000"/>
              </a:lnSpc>
              <a:spcBef>
                <a:spcPts val="120"/>
              </a:spcBef>
            </a:pPr>
            <a:r>
              <a:rPr sz="5050" spc="-270" dirty="0">
                <a:latin typeface="Cambria"/>
                <a:cs typeface="Cambria"/>
              </a:rPr>
              <a:t>Simulated</a:t>
            </a:r>
            <a:r>
              <a:rPr sz="5050" spc="225" dirty="0">
                <a:latin typeface="Cambria"/>
                <a:cs typeface="Cambria"/>
              </a:rPr>
              <a:t> </a:t>
            </a:r>
            <a:r>
              <a:rPr sz="5050" spc="-285" dirty="0">
                <a:latin typeface="Cambria"/>
                <a:cs typeface="Cambria"/>
              </a:rPr>
              <a:t>Annealing:</a:t>
            </a:r>
            <a:r>
              <a:rPr sz="5050" spc="265" dirty="0">
                <a:latin typeface="Cambria"/>
                <a:cs typeface="Cambria"/>
              </a:rPr>
              <a:t> </a:t>
            </a:r>
            <a:r>
              <a:rPr sz="5050" spc="-160" dirty="0">
                <a:latin typeface="Cambria"/>
                <a:cs typeface="Cambria"/>
              </a:rPr>
              <a:t>A</a:t>
            </a:r>
            <a:r>
              <a:rPr sz="5050" spc="-180" dirty="0">
                <a:latin typeface="Cambria"/>
                <a:cs typeface="Cambria"/>
              </a:rPr>
              <a:t> </a:t>
            </a:r>
            <a:r>
              <a:rPr sz="5050" spc="-275" dirty="0">
                <a:latin typeface="Cambria"/>
                <a:cs typeface="Cambria"/>
              </a:rPr>
              <a:t>Strategy</a:t>
            </a:r>
            <a:r>
              <a:rPr sz="5050" spc="195" dirty="0">
                <a:latin typeface="Cambria"/>
                <a:cs typeface="Cambria"/>
              </a:rPr>
              <a:t> </a:t>
            </a:r>
            <a:r>
              <a:rPr sz="5050" spc="-190" dirty="0">
                <a:latin typeface="Cambria"/>
                <a:cs typeface="Cambria"/>
              </a:rPr>
              <a:t>for</a:t>
            </a:r>
            <a:r>
              <a:rPr sz="5050" spc="-75" dirty="0">
                <a:latin typeface="Cambria"/>
                <a:cs typeface="Cambria"/>
              </a:rPr>
              <a:t> </a:t>
            </a:r>
            <a:r>
              <a:rPr sz="5050" spc="-215" dirty="0">
                <a:latin typeface="Cambria"/>
                <a:cs typeface="Cambria"/>
              </a:rPr>
              <a:t>Finding</a:t>
            </a:r>
            <a:r>
              <a:rPr sz="5050" spc="120" dirty="0">
                <a:latin typeface="Cambria"/>
                <a:cs typeface="Cambria"/>
              </a:rPr>
              <a:t> </a:t>
            </a:r>
            <a:r>
              <a:rPr sz="5050" spc="-260" dirty="0">
                <a:latin typeface="Cambria"/>
                <a:cs typeface="Cambria"/>
              </a:rPr>
              <a:t>the</a:t>
            </a:r>
            <a:r>
              <a:rPr sz="5050" spc="-130" dirty="0">
                <a:latin typeface="Cambria"/>
                <a:cs typeface="Cambria"/>
              </a:rPr>
              <a:t> </a:t>
            </a:r>
            <a:r>
              <a:rPr sz="5050" spc="-254" dirty="0">
                <a:latin typeface="Cambria"/>
                <a:cs typeface="Cambria"/>
              </a:rPr>
              <a:t>Deepest</a:t>
            </a:r>
            <a:r>
              <a:rPr sz="5050" spc="75" dirty="0">
                <a:latin typeface="Cambria"/>
                <a:cs typeface="Cambria"/>
              </a:rPr>
              <a:t> </a:t>
            </a:r>
            <a:r>
              <a:rPr sz="5050" spc="-290" dirty="0">
                <a:latin typeface="Cambria"/>
                <a:cs typeface="Cambria"/>
              </a:rPr>
              <a:t>Truth</a:t>
            </a:r>
            <a:endParaRPr sz="505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5898" y="1839912"/>
            <a:ext cx="15525750" cy="29159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3100" spc="-415" dirty="0">
                <a:latin typeface="Arial MT"/>
                <a:cs typeface="Arial MT"/>
              </a:rPr>
              <a:t>The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295" dirty="0">
                <a:latin typeface="Arial MT"/>
                <a:cs typeface="Arial MT"/>
              </a:rPr>
              <a:t>network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335" dirty="0">
                <a:latin typeface="Arial MT"/>
                <a:cs typeface="Arial MT"/>
              </a:rPr>
              <a:t>harnesses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spc="-310" dirty="0">
                <a:latin typeface="Arial MT"/>
                <a:cs typeface="Arial MT"/>
              </a:rPr>
              <a:t>temperature</a:t>
            </a:r>
            <a:r>
              <a:rPr sz="3100" spc="75" dirty="0">
                <a:latin typeface="Arial MT"/>
                <a:cs typeface="Arial MT"/>
              </a:rPr>
              <a:t> </a:t>
            </a:r>
            <a:r>
              <a:rPr sz="3100" spc="-165" dirty="0">
                <a:latin typeface="Arial MT"/>
                <a:cs typeface="Arial MT"/>
              </a:rPr>
              <a:t>to</a:t>
            </a:r>
            <a:r>
              <a:rPr sz="3100" spc="-220" dirty="0">
                <a:latin typeface="Arial MT"/>
                <a:cs typeface="Arial MT"/>
              </a:rPr>
              <a:t> </a:t>
            </a:r>
            <a:r>
              <a:rPr sz="3100" spc="-210" dirty="0">
                <a:latin typeface="Arial MT"/>
                <a:cs typeface="Arial MT"/>
              </a:rPr>
              <a:t>find</a:t>
            </a:r>
            <a:r>
              <a:rPr sz="3100" spc="-260" dirty="0">
                <a:latin typeface="Arial MT"/>
                <a:cs typeface="Arial MT"/>
              </a:rPr>
              <a:t> </a:t>
            </a:r>
            <a:r>
              <a:rPr sz="3100" spc="-254" dirty="0">
                <a:latin typeface="Arial MT"/>
                <a:cs typeface="Arial MT"/>
              </a:rPr>
              <a:t>better</a:t>
            </a:r>
            <a:r>
              <a:rPr sz="3100" spc="80" dirty="0">
                <a:latin typeface="Arial MT"/>
                <a:cs typeface="Arial MT"/>
              </a:rPr>
              <a:t> </a:t>
            </a:r>
            <a:r>
              <a:rPr sz="3100" spc="-260" dirty="0">
                <a:latin typeface="Arial MT"/>
                <a:cs typeface="Arial MT"/>
              </a:rPr>
              <a:t>solutions</a:t>
            </a:r>
            <a:r>
              <a:rPr sz="3100" dirty="0">
                <a:latin typeface="Arial MT"/>
                <a:cs typeface="Arial MT"/>
              </a:rPr>
              <a:t> </a:t>
            </a:r>
            <a:r>
              <a:rPr sz="3100" spc="-290" dirty="0">
                <a:latin typeface="Arial MT"/>
                <a:cs typeface="Arial MT"/>
              </a:rPr>
              <a:t>through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spc="-484" dirty="0">
                <a:latin typeface="Arial MT"/>
                <a:cs typeface="Arial MT"/>
              </a:rPr>
              <a:t>a</a:t>
            </a:r>
            <a:r>
              <a:rPr sz="3100" spc="-200" dirty="0">
                <a:latin typeface="Arial MT"/>
                <a:cs typeface="Arial MT"/>
              </a:rPr>
              <a:t> </a:t>
            </a:r>
            <a:r>
              <a:rPr sz="3100" spc="-295" dirty="0">
                <a:latin typeface="Arial MT"/>
                <a:cs typeface="Arial MT"/>
              </a:rPr>
              <a:t>process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320" dirty="0">
                <a:latin typeface="Arial MT"/>
                <a:cs typeface="Arial MT"/>
              </a:rPr>
              <a:t>analogous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65" dirty="0">
                <a:latin typeface="Arial MT"/>
                <a:cs typeface="Arial MT"/>
              </a:rPr>
              <a:t>to</a:t>
            </a:r>
            <a:r>
              <a:rPr sz="3100" spc="-204" dirty="0">
                <a:latin typeface="Arial MT"/>
                <a:cs typeface="Arial MT"/>
              </a:rPr>
              <a:t> </a:t>
            </a:r>
            <a:r>
              <a:rPr sz="3100" spc="-305" dirty="0">
                <a:latin typeface="Arial MT"/>
                <a:cs typeface="Arial MT"/>
              </a:rPr>
              <a:t>annealing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285" dirty="0">
                <a:latin typeface="Arial MT"/>
                <a:cs typeface="Arial MT"/>
              </a:rPr>
              <a:t>metal:</a:t>
            </a:r>
            <a:endParaRPr sz="3100">
              <a:latin typeface="Arial MT"/>
              <a:cs typeface="Arial MT"/>
            </a:endParaRPr>
          </a:p>
          <a:p>
            <a:pPr marL="360680" marR="581025" indent="-257175">
              <a:lnSpc>
                <a:spcPts val="3450"/>
              </a:lnSpc>
              <a:spcBef>
                <a:spcPts val="570"/>
              </a:spcBef>
              <a:buChar char="•"/>
              <a:tabLst>
                <a:tab pos="376555" algn="l"/>
              </a:tabLst>
            </a:pPr>
            <a:r>
              <a:rPr sz="2900" spc="-70" dirty="0">
                <a:latin typeface="Arial MT"/>
                <a:cs typeface="Arial MT"/>
              </a:rPr>
              <a:t>1.</a:t>
            </a:r>
            <a:r>
              <a:rPr sz="2900" spc="-220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High</a:t>
            </a:r>
            <a:r>
              <a:rPr sz="2900" spc="-225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Temperature:</a:t>
            </a:r>
            <a:r>
              <a:rPr sz="2900" spc="9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The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system</a:t>
            </a:r>
            <a:r>
              <a:rPr sz="2900" spc="75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starts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'hot.'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spc="-275" dirty="0">
                <a:latin typeface="Arial MT"/>
                <a:cs typeface="Arial MT"/>
              </a:rPr>
              <a:t>Randomness</a:t>
            </a:r>
            <a:r>
              <a:rPr sz="2900" spc="220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is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200" dirty="0">
                <a:latin typeface="Arial MT"/>
                <a:cs typeface="Arial MT"/>
              </a:rPr>
              <a:t>high,</a:t>
            </a:r>
            <a:r>
              <a:rPr sz="2900" spc="-170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allowing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200" dirty="0">
                <a:latin typeface="Arial MT"/>
                <a:cs typeface="Arial MT"/>
              </a:rPr>
              <a:t>the</a:t>
            </a:r>
            <a:r>
              <a:rPr sz="2900" spc="-114" dirty="0">
                <a:latin typeface="Arial MT"/>
                <a:cs typeface="Arial MT"/>
              </a:rPr>
              <a:t> </a:t>
            </a:r>
            <a:r>
              <a:rPr sz="2900" spc="-195" dirty="0">
                <a:latin typeface="Arial MT"/>
                <a:cs typeface="Arial MT"/>
              </a:rPr>
              <a:t>network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to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200" dirty="0">
                <a:latin typeface="Arial MT"/>
                <a:cs typeface="Arial MT"/>
              </a:rPr>
              <a:t>explore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	</a:t>
            </a:r>
            <a:r>
              <a:rPr sz="2900" spc="-180" dirty="0">
                <a:latin typeface="Arial MT"/>
                <a:cs typeface="Arial MT"/>
              </a:rPr>
              <a:t>entire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landscape</a:t>
            </a:r>
            <a:r>
              <a:rPr sz="2900" spc="70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and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95" dirty="0">
                <a:latin typeface="Arial MT"/>
                <a:cs typeface="Arial MT"/>
              </a:rPr>
              <a:t>easily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escape</a:t>
            </a:r>
            <a:r>
              <a:rPr sz="2900" spc="45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local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minima.</a:t>
            </a:r>
            <a:endParaRPr sz="2900">
              <a:latin typeface="Arial MT"/>
              <a:cs typeface="Arial MT"/>
            </a:endParaRPr>
          </a:p>
          <a:p>
            <a:pPr marL="376555" indent="-275590">
              <a:lnSpc>
                <a:spcPts val="3860"/>
              </a:lnSpc>
              <a:buChar char="•"/>
              <a:tabLst>
                <a:tab pos="376555" algn="l"/>
              </a:tabLst>
            </a:pPr>
            <a:r>
              <a:rPr sz="3250" spc="-290" dirty="0">
                <a:latin typeface="Arial MT"/>
                <a:cs typeface="Arial MT"/>
              </a:rPr>
              <a:t>2.</a:t>
            </a:r>
            <a:r>
              <a:rPr sz="3250" spc="-320" dirty="0">
                <a:latin typeface="Arial MT"/>
                <a:cs typeface="Arial MT"/>
              </a:rPr>
              <a:t> </a:t>
            </a:r>
            <a:r>
              <a:rPr sz="3250" spc="-305" dirty="0">
                <a:latin typeface="Arial MT"/>
                <a:cs typeface="Arial MT"/>
              </a:rPr>
              <a:t>GradualCooling:</a:t>
            </a:r>
            <a:r>
              <a:rPr sz="3250" spc="-370" dirty="0">
                <a:latin typeface="Arial MT"/>
                <a:cs typeface="Arial MT"/>
              </a:rPr>
              <a:t> </a:t>
            </a:r>
            <a:r>
              <a:rPr sz="3250" spc="-455" dirty="0">
                <a:latin typeface="Arial MT"/>
                <a:cs typeface="Arial MT"/>
              </a:rPr>
              <a:t>The</a:t>
            </a:r>
            <a:r>
              <a:rPr sz="3250" spc="-240" dirty="0">
                <a:latin typeface="Arial MT"/>
                <a:cs typeface="Arial MT"/>
              </a:rPr>
              <a:t> </a:t>
            </a:r>
            <a:r>
              <a:rPr sz="3250" spc="-375" dirty="0">
                <a:latin typeface="Arial MT"/>
                <a:cs typeface="Arial MT"/>
              </a:rPr>
              <a:t>temperature</a:t>
            </a:r>
            <a:r>
              <a:rPr sz="3250" spc="-95" dirty="0">
                <a:latin typeface="Arial MT"/>
                <a:cs typeface="Arial MT"/>
              </a:rPr>
              <a:t> </a:t>
            </a:r>
            <a:r>
              <a:rPr sz="3250" spc="-215" dirty="0">
                <a:latin typeface="Arial MT"/>
                <a:cs typeface="Arial MT"/>
              </a:rPr>
              <a:t>is</a:t>
            </a:r>
            <a:r>
              <a:rPr sz="3250" spc="-200" dirty="0">
                <a:latin typeface="Arial MT"/>
                <a:cs typeface="Arial MT"/>
              </a:rPr>
              <a:t> </a:t>
            </a:r>
            <a:r>
              <a:rPr sz="3250" spc="-325" dirty="0">
                <a:latin typeface="Arial MT"/>
                <a:cs typeface="Arial MT"/>
              </a:rPr>
              <a:t>slowly</a:t>
            </a:r>
            <a:r>
              <a:rPr sz="3250" spc="-125" dirty="0">
                <a:latin typeface="Arial MT"/>
                <a:cs typeface="Arial MT"/>
              </a:rPr>
              <a:t> </a:t>
            </a:r>
            <a:r>
              <a:rPr sz="3250" spc="-375" dirty="0">
                <a:latin typeface="Arial MT"/>
                <a:cs typeface="Arial MT"/>
              </a:rPr>
              <a:t>lowered,</a:t>
            </a:r>
            <a:r>
              <a:rPr sz="3250" spc="-155" dirty="0">
                <a:latin typeface="Arial MT"/>
                <a:cs typeface="Arial MT"/>
              </a:rPr>
              <a:t> </a:t>
            </a:r>
            <a:r>
              <a:rPr sz="3250" spc="-390" dirty="0">
                <a:latin typeface="Arial MT"/>
                <a:cs typeface="Arial MT"/>
              </a:rPr>
              <a:t>decreasing</a:t>
            </a:r>
            <a:r>
              <a:rPr sz="3250" spc="40" dirty="0">
                <a:latin typeface="Arial MT"/>
                <a:cs typeface="Arial MT"/>
              </a:rPr>
              <a:t> </a:t>
            </a:r>
            <a:r>
              <a:rPr sz="3250" spc="-325" dirty="0">
                <a:latin typeface="Arial MT"/>
                <a:cs typeface="Arial MT"/>
              </a:rPr>
              <a:t>the</a:t>
            </a:r>
            <a:r>
              <a:rPr sz="3250" spc="-335" dirty="0">
                <a:latin typeface="Arial MT"/>
                <a:cs typeface="Arial MT"/>
              </a:rPr>
              <a:t> </a:t>
            </a:r>
            <a:r>
              <a:rPr sz="3250" spc="-300" dirty="0">
                <a:latin typeface="Arial MT"/>
                <a:cs typeface="Arial MT"/>
              </a:rPr>
              <a:t>probability</a:t>
            </a:r>
            <a:r>
              <a:rPr sz="3250" spc="20" dirty="0">
                <a:latin typeface="Arial MT"/>
                <a:cs typeface="Arial MT"/>
              </a:rPr>
              <a:t> </a:t>
            </a:r>
            <a:r>
              <a:rPr sz="3250" spc="-254" dirty="0">
                <a:latin typeface="Arial MT"/>
                <a:cs typeface="Arial MT"/>
              </a:rPr>
              <a:t>of</a:t>
            </a:r>
            <a:r>
              <a:rPr sz="3250" spc="-220" dirty="0">
                <a:latin typeface="Arial MT"/>
                <a:cs typeface="Arial MT"/>
              </a:rPr>
              <a:t> </a:t>
            </a:r>
            <a:r>
              <a:rPr sz="3250" spc="-355" dirty="0">
                <a:latin typeface="Arial MT"/>
                <a:cs typeface="Arial MT"/>
              </a:rPr>
              <a:t>large</a:t>
            </a:r>
            <a:r>
              <a:rPr sz="3250" spc="-170" dirty="0">
                <a:latin typeface="Arial MT"/>
                <a:cs typeface="Arial MT"/>
              </a:rPr>
              <a:t> </a:t>
            </a:r>
            <a:r>
              <a:rPr sz="3250" spc="-155" dirty="0">
                <a:latin typeface="Arial MT"/>
                <a:cs typeface="Arial MT"/>
              </a:rPr>
              <a:t>’uphill'jumps.</a:t>
            </a:r>
            <a:endParaRPr sz="3250">
              <a:latin typeface="Arial MT"/>
              <a:cs typeface="Arial MT"/>
            </a:endParaRPr>
          </a:p>
          <a:p>
            <a:pPr marL="373380" indent="-270510">
              <a:lnSpc>
                <a:spcPts val="3579"/>
              </a:lnSpc>
              <a:spcBef>
                <a:spcPts val="200"/>
              </a:spcBef>
              <a:buChar char="•"/>
              <a:tabLst>
                <a:tab pos="373380" algn="l"/>
              </a:tabLst>
            </a:pPr>
            <a:r>
              <a:rPr sz="3050" spc="-130" dirty="0">
                <a:latin typeface="Arial MT"/>
                <a:cs typeface="Arial MT"/>
              </a:rPr>
              <a:t>3.</a:t>
            </a:r>
            <a:r>
              <a:rPr sz="3050" spc="-380" dirty="0">
                <a:latin typeface="Arial MT"/>
                <a:cs typeface="Arial MT"/>
              </a:rPr>
              <a:t> </a:t>
            </a:r>
            <a:r>
              <a:rPr sz="3050" spc="-260" dirty="0">
                <a:latin typeface="Arial MT"/>
                <a:cs typeface="Arial MT"/>
              </a:rPr>
              <a:t>Freezing: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-325" dirty="0">
                <a:latin typeface="Arial MT"/>
                <a:cs typeface="Arial MT"/>
              </a:rPr>
              <a:t>As</a:t>
            </a:r>
            <a:r>
              <a:rPr sz="3050" spc="-235" dirty="0">
                <a:latin typeface="Arial MT"/>
                <a:cs typeface="Arial MT"/>
              </a:rPr>
              <a:t> </a:t>
            </a:r>
            <a:r>
              <a:rPr sz="3050" spc="-280" dirty="0">
                <a:latin typeface="Arial MT"/>
                <a:cs typeface="Arial MT"/>
              </a:rPr>
              <a:t>T</a:t>
            </a:r>
            <a:r>
              <a:rPr sz="3050" spc="-155" dirty="0">
                <a:latin typeface="Arial MT"/>
                <a:cs typeface="Arial MT"/>
              </a:rPr>
              <a:t> </a:t>
            </a:r>
            <a:r>
              <a:rPr sz="3050" spc="-305" dirty="0">
                <a:latin typeface="Arial MT"/>
                <a:cs typeface="Arial MT"/>
              </a:rPr>
              <a:t>approaches</a:t>
            </a:r>
            <a:r>
              <a:rPr sz="3050" spc="85" dirty="0">
                <a:latin typeface="Arial MT"/>
                <a:cs typeface="Arial MT"/>
              </a:rPr>
              <a:t> </a:t>
            </a:r>
            <a:r>
              <a:rPr sz="3050" spc="-280" dirty="0">
                <a:latin typeface="Arial MT"/>
                <a:cs typeface="Arial MT"/>
              </a:rPr>
              <a:t>zero,</a:t>
            </a:r>
            <a:r>
              <a:rPr sz="3050" spc="-254" dirty="0">
                <a:latin typeface="Arial MT"/>
                <a:cs typeface="Arial MT"/>
              </a:rPr>
              <a:t> </a:t>
            </a:r>
            <a:r>
              <a:rPr sz="3050" spc="-250" dirty="0">
                <a:latin typeface="Arial MT"/>
                <a:cs typeface="Arial MT"/>
              </a:rPr>
              <a:t>the</a:t>
            </a:r>
            <a:r>
              <a:rPr sz="3050" spc="-245" dirty="0">
                <a:latin typeface="Arial MT"/>
                <a:cs typeface="Arial MT"/>
              </a:rPr>
              <a:t> </a:t>
            </a:r>
            <a:r>
              <a:rPr sz="3050" spc="-250" dirty="0">
                <a:latin typeface="Arial MT"/>
                <a:cs typeface="Arial MT"/>
              </a:rPr>
              <a:t>network</a:t>
            </a:r>
            <a:r>
              <a:rPr sz="3050" spc="-10" dirty="0">
                <a:latin typeface="Arial MT"/>
                <a:cs typeface="Arial MT"/>
              </a:rPr>
              <a:t> </a:t>
            </a:r>
            <a:r>
              <a:rPr sz="3050" spc="-210" dirty="0">
                <a:latin typeface="Arial MT"/>
                <a:cs typeface="Arial MT"/>
              </a:rPr>
              <a:t>settles</a:t>
            </a:r>
            <a:r>
              <a:rPr sz="3050" spc="-55" dirty="0">
                <a:latin typeface="Arial MT"/>
                <a:cs typeface="Arial MT"/>
              </a:rPr>
              <a:t> </a:t>
            </a:r>
            <a:r>
              <a:rPr sz="3050" spc="-195" dirty="0">
                <a:latin typeface="Arial MT"/>
                <a:cs typeface="Arial MT"/>
              </a:rPr>
              <a:t>into</a:t>
            </a:r>
            <a:r>
              <a:rPr sz="3050" spc="-125" dirty="0">
                <a:latin typeface="Arial MT"/>
                <a:cs typeface="Arial MT"/>
              </a:rPr>
              <a:t> </a:t>
            </a:r>
            <a:r>
              <a:rPr sz="3050" spc="-360" dirty="0">
                <a:latin typeface="Arial MT"/>
                <a:cs typeface="Arial MT"/>
              </a:rPr>
              <a:t>a</a:t>
            </a:r>
            <a:r>
              <a:rPr sz="3050" spc="-120" dirty="0">
                <a:latin typeface="Arial MT"/>
                <a:cs typeface="Arial MT"/>
              </a:rPr>
              <a:t> </a:t>
            </a:r>
            <a:r>
              <a:rPr sz="3050" spc="-305" dirty="0">
                <a:latin typeface="Arial MT"/>
                <a:cs typeface="Arial MT"/>
              </a:rPr>
              <a:t>very</a:t>
            </a:r>
            <a:r>
              <a:rPr sz="3050" spc="-245" dirty="0">
                <a:latin typeface="Arial MT"/>
                <a:cs typeface="Arial MT"/>
              </a:rPr>
              <a:t> </a:t>
            </a:r>
            <a:r>
              <a:rPr sz="3050" spc="-229" dirty="0">
                <a:latin typeface="Arial MT"/>
                <a:cs typeface="Arial MT"/>
              </a:rPr>
              <a:t>Ion-</a:t>
            </a:r>
            <a:r>
              <a:rPr sz="3050" spc="-265" dirty="0">
                <a:latin typeface="Arial MT"/>
                <a:cs typeface="Arial MT"/>
              </a:rPr>
              <a:t>energy</a:t>
            </a:r>
            <a:r>
              <a:rPr sz="3050" spc="145" dirty="0">
                <a:latin typeface="Arial MT"/>
                <a:cs typeface="Arial MT"/>
              </a:rPr>
              <a:t> </a:t>
            </a:r>
            <a:r>
              <a:rPr sz="3050" spc="-250" dirty="0">
                <a:latin typeface="Arial MT"/>
                <a:cs typeface="Arial MT"/>
              </a:rPr>
              <a:t>state,</a:t>
            </a:r>
            <a:r>
              <a:rPr sz="3050" spc="-265" dirty="0">
                <a:latin typeface="Arial MT"/>
                <a:cs typeface="Arial MT"/>
              </a:rPr>
              <a:t> </a:t>
            </a:r>
            <a:r>
              <a:rPr sz="3050" spc="-275" dirty="0">
                <a:latin typeface="Arial MT"/>
                <a:cs typeface="Arial MT"/>
              </a:rPr>
              <a:t>having</a:t>
            </a:r>
            <a:r>
              <a:rPr sz="3050" spc="-105" dirty="0">
                <a:latin typeface="Arial MT"/>
                <a:cs typeface="Arial MT"/>
              </a:rPr>
              <a:t> </a:t>
            </a:r>
            <a:r>
              <a:rPr sz="3050" spc="-295" dirty="0">
                <a:latin typeface="Arial MT"/>
                <a:cs typeface="Arial MT"/>
              </a:rPr>
              <a:t>had</a:t>
            </a:r>
            <a:r>
              <a:rPr sz="3050" spc="-225" dirty="0">
                <a:latin typeface="Arial MT"/>
                <a:cs typeface="Arial MT"/>
              </a:rPr>
              <a:t> </a:t>
            </a:r>
            <a:r>
              <a:rPr sz="3050" spc="-360" dirty="0">
                <a:latin typeface="Arial MT"/>
                <a:cs typeface="Arial MT"/>
              </a:rPr>
              <a:t>a</a:t>
            </a:r>
            <a:r>
              <a:rPr sz="3050" spc="-185" dirty="0">
                <a:latin typeface="Arial MT"/>
                <a:cs typeface="Arial MT"/>
              </a:rPr>
              <a:t> </a:t>
            </a:r>
            <a:r>
              <a:rPr sz="3050" spc="-345" dirty="0">
                <a:latin typeface="Arial MT"/>
                <a:cs typeface="Arial MT"/>
              </a:rPr>
              <a:t>much</a:t>
            </a:r>
            <a:endParaRPr sz="3050">
              <a:latin typeface="Arial MT"/>
              <a:cs typeface="Arial MT"/>
            </a:endParaRPr>
          </a:p>
          <a:p>
            <a:pPr marL="377825">
              <a:lnSpc>
                <a:spcPts val="3460"/>
              </a:lnSpc>
            </a:pPr>
            <a:r>
              <a:rPr sz="2950" spc="-195" dirty="0">
                <a:latin typeface="Arial MT"/>
                <a:cs typeface="Arial MT"/>
              </a:rPr>
              <a:t>better</a:t>
            </a:r>
            <a:r>
              <a:rPr sz="2950" spc="70" dirty="0">
                <a:latin typeface="Arial MT"/>
                <a:cs typeface="Arial MT"/>
              </a:rPr>
              <a:t> </a:t>
            </a:r>
            <a:r>
              <a:rPr sz="2950" spc="-260" dirty="0">
                <a:latin typeface="Arial MT"/>
                <a:cs typeface="Arial MT"/>
              </a:rPr>
              <a:t>chance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spc="-114" dirty="0">
                <a:latin typeface="Arial MT"/>
                <a:cs typeface="Arial MT"/>
              </a:rPr>
              <a:t>of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-175" dirty="0">
                <a:latin typeface="Arial MT"/>
                <a:cs typeface="Arial MT"/>
              </a:rPr>
              <a:t>finding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190" dirty="0">
                <a:latin typeface="Arial MT"/>
                <a:cs typeface="Arial MT"/>
              </a:rPr>
              <a:t>the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spc="-155" dirty="0">
                <a:latin typeface="Arial MT"/>
                <a:cs typeface="Arial MT"/>
              </a:rPr>
              <a:t>global</a:t>
            </a:r>
            <a:r>
              <a:rPr sz="2950" spc="-22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minimum.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6131" y="4968875"/>
            <a:ext cx="442658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29" dirty="0">
                <a:latin typeface="Arial MT"/>
                <a:cs typeface="Arial MT"/>
              </a:rPr>
              <a:t>deterministic</a:t>
            </a:r>
            <a:r>
              <a:rPr sz="3100" spc="75" dirty="0">
                <a:latin typeface="Arial MT"/>
                <a:cs typeface="Arial MT"/>
              </a:rPr>
              <a:t> </a:t>
            </a:r>
            <a:r>
              <a:rPr sz="3100" spc="-385" dirty="0">
                <a:latin typeface="Arial MT"/>
                <a:cs typeface="Arial MT"/>
              </a:rPr>
              <a:t>Search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285" dirty="0">
                <a:latin typeface="Arial MT"/>
                <a:cs typeface="Arial MT"/>
              </a:rPr>
              <a:t>(Hopfield)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0581" y="8716433"/>
            <a:ext cx="136271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175" dirty="0">
                <a:solidFill>
                  <a:srgbClr val="546672"/>
                </a:solidFill>
                <a:latin typeface="Arial MT"/>
                <a:cs typeface="Arial MT"/>
              </a:rPr>
              <a:t>minimum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08079" y="4855437"/>
            <a:ext cx="4297045" cy="11868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50" spc="-345" dirty="0">
                <a:latin typeface="Arial MT"/>
                <a:cs typeface="Arial MT"/>
              </a:rPr>
              <a:t>Stochastic</a:t>
            </a:r>
            <a:r>
              <a:rPr sz="3250" spc="105" dirty="0">
                <a:latin typeface="Arial MT"/>
                <a:cs typeface="Arial MT"/>
              </a:rPr>
              <a:t> </a:t>
            </a:r>
            <a:r>
              <a:rPr sz="3250" spc="-470" dirty="0">
                <a:latin typeface="Arial MT"/>
                <a:cs typeface="Arial MT"/>
              </a:rPr>
              <a:t>Search</a:t>
            </a:r>
            <a:r>
              <a:rPr sz="3250" spc="-100" dirty="0">
                <a:latin typeface="Arial MT"/>
                <a:cs typeface="Arial MT"/>
              </a:rPr>
              <a:t> </a:t>
            </a:r>
            <a:r>
              <a:rPr sz="3250" spc="-380" dirty="0">
                <a:latin typeface="Arial MT"/>
                <a:cs typeface="Arial MT"/>
              </a:rPr>
              <a:t>(Annealing)</a:t>
            </a:r>
            <a:endParaRPr sz="3250">
              <a:latin typeface="Arial MT"/>
              <a:cs typeface="Arial MT"/>
            </a:endParaRPr>
          </a:p>
          <a:p>
            <a:pPr marL="1218565">
              <a:lnSpc>
                <a:spcPct val="100000"/>
              </a:lnSpc>
              <a:spcBef>
                <a:spcPts val="750"/>
              </a:spcBef>
            </a:pPr>
            <a:r>
              <a:rPr sz="3100" spc="-325" dirty="0">
                <a:latin typeface="Arial MT"/>
                <a:cs typeface="Arial MT"/>
              </a:rPr>
              <a:t>High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484" dirty="0">
                <a:latin typeface="Arial MT"/>
                <a:cs typeface="Arial MT"/>
              </a:rPr>
              <a:t>T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25030" y="7077075"/>
            <a:ext cx="88011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425" dirty="0">
                <a:latin typeface="Arial MT"/>
                <a:cs typeface="Arial MT"/>
              </a:rPr>
              <a:t>Low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484" dirty="0">
                <a:latin typeface="Arial MT"/>
                <a:cs typeface="Arial MT"/>
              </a:rPr>
              <a:t>T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82330" y="8742891"/>
            <a:ext cx="136461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60" dirty="0">
                <a:solidFill>
                  <a:srgbClr val="566770"/>
                </a:solidFill>
                <a:latin typeface="Arial MT"/>
                <a:cs typeface="Arial MT"/>
              </a:rPr>
              <a:t>minimum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400" y="3581400"/>
            <a:ext cx="7251700" cy="4737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spc="-340" dirty="0"/>
              <a:t>The</a:t>
            </a:r>
            <a:r>
              <a:rPr sz="5400" spc="-130" dirty="0"/>
              <a:t> </a:t>
            </a:r>
            <a:r>
              <a:rPr sz="5400" spc="-295" dirty="0"/>
              <a:t>Second</a:t>
            </a:r>
            <a:r>
              <a:rPr sz="5400" spc="-45" dirty="0"/>
              <a:t> </a:t>
            </a:r>
            <a:r>
              <a:rPr sz="5400" spc="-325" dirty="0"/>
              <a:t>Leap:</a:t>
            </a:r>
            <a:r>
              <a:rPr sz="5400" spc="-50" dirty="0"/>
              <a:t> </a:t>
            </a:r>
            <a:r>
              <a:rPr sz="5400" spc="-295" dirty="0"/>
              <a:t>Hidden</a:t>
            </a:r>
            <a:r>
              <a:rPr sz="5400" spc="120" dirty="0"/>
              <a:t> </a:t>
            </a:r>
            <a:r>
              <a:rPr sz="5400" spc="-310" dirty="0"/>
              <a:t>Units</a:t>
            </a:r>
            <a:r>
              <a:rPr sz="5400" spc="-125" dirty="0"/>
              <a:t> </a:t>
            </a:r>
            <a:r>
              <a:rPr sz="5400" spc="-155" dirty="0"/>
              <a:t>and</a:t>
            </a:r>
            <a:r>
              <a:rPr sz="5400" spc="-50" dirty="0"/>
              <a:t> </a:t>
            </a:r>
            <a:r>
              <a:rPr sz="5400" dirty="0"/>
              <a:t>the</a:t>
            </a:r>
            <a:r>
              <a:rPr sz="5400" spc="-15" dirty="0"/>
              <a:t> </a:t>
            </a:r>
            <a:r>
              <a:rPr sz="5400" spc="-335" dirty="0"/>
              <a:t>Power</a:t>
            </a:r>
            <a:r>
              <a:rPr sz="5400" spc="-25" dirty="0"/>
              <a:t> </a:t>
            </a:r>
            <a:r>
              <a:rPr sz="5400" spc="-450" dirty="0"/>
              <a:t>of</a:t>
            </a:r>
            <a:r>
              <a:rPr sz="5400" spc="85" dirty="0"/>
              <a:t> </a:t>
            </a:r>
            <a:r>
              <a:rPr sz="5400" spc="-60" dirty="0"/>
              <a:t>Interpretation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8009" y="1912055"/>
            <a:ext cx="7917815" cy="76974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06070" marR="229235" indent="-294005">
              <a:lnSpc>
                <a:spcPct val="100299"/>
              </a:lnSpc>
              <a:spcBef>
                <a:spcPts val="80"/>
              </a:spcBef>
              <a:buChar char="•"/>
              <a:tabLst>
                <a:tab pos="306070" algn="l"/>
                <a:tab pos="326390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200" spc="-30" dirty="0">
                <a:latin typeface="Arial MT"/>
                <a:cs typeface="Arial MT"/>
              </a:rPr>
              <a:t>Architectural</a:t>
            </a:r>
            <a:r>
              <a:rPr sz="3200" dirty="0">
                <a:latin typeface="Arial MT"/>
                <a:cs typeface="Arial MT"/>
              </a:rPr>
              <a:t> Shik: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Unlike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spc="-140" dirty="0">
                <a:latin typeface="Arial MT"/>
                <a:cs typeface="Arial MT"/>
              </a:rPr>
              <a:t>single-</a:t>
            </a:r>
            <a:r>
              <a:rPr sz="3200" spc="-10" dirty="0">
                <a:latin typeface="Arial MT"/>
                <a:cs typeface="Arial MT"/>
              </a:rPr>
              <a:t>layer </a:t>
            </a:r>
            <a:r>
              <a:rPr sz="3200" spc="-95" dirty="0">
                <a:latin typeface="Arial MT"/>
                <a:cs typeface="Arial MT"/>
              </a:rPr>
              <a:t>Hopfield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Network,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305" dirty="0">
                <a:latin typeface="Arial MT"/>
                <a:cs typeface="Arial MT"/>
              </a:rPr>
              <a:t>a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170" dirty="0">
                <a:latin typeface="Arial MT"/>
                <a:cs typeface="Arial MT"/>
              </a:rPr>
              <a:t>Boltzmann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170" dirty="0">
                <a:latin typeface="Arial MT"/>
                <a:cs typeface="Arial MT"/>
              </a:rPr>
              <a:t>machine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can </a:t>
            </a:r>
            <a:r>
              <a:rPr sz="3200" spc="-200" dirty="0">
                <a:latin typeface="Arial MT"/>
                <a:cs typeface="Arial MT"/>
              </a:rPr>
              <a:t>have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hidden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units.</a:t>
            </a:r>
            <a:endParaRPr sz="3200" dirty="0">
              <a:latin typeface="Arial MT"/>
              <a:cs typeface="Arial MT"/>
            </a:endParaRPr>
          </a:p>
          <a:p>
            <a:pPr marL="324485" indent="-311785">
              <a:lnSpc>
                <a:spcPct val="100000"/>
              </a:lnSpc>
              <a:spcBef>
                <a:spcPts val="1060"/>
              </a:spcBef>
              <a:buChar char="•"/>
              <a:tabLst>
                <a:tab pos="324485" algn="l"/>
              </a:tabLst>
            </a:pPr>
            <a:r>
              <a:rPr sz="3100" spc="-25" dirty="0">
                <a:latin typeface="Arial MT"/>
                <a:cs typeface="Arial MT"/>
              </a:rPr>
              <a:t>Visible</a:t>
            </a:r>
            <a:r>
              <a:rPr sz="3100" spc="-1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Units: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Interface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with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external</a:t>
            </a:r>
            <a:endParaRPr sz="3100" dirty="0">
              <a:latin typeface="Arial MT"/>
              <a:cs typeface="Arial MT"/>
            </a:endParaRPr>
          </a:p>
          <a:p>
            <a:pPr marL="325120">
              <a:lnSpc>
                <a:spcPct val="100000"/>
              </a:lnSpc>
              <a:spcBef>
                <a:spcPts val="229"/>
              </a:spcBef>
            </a:pPr>
            <a:r>
              <a:rPr sz="2950" dirty="0">
                <a:latin typeface="Arial MT"/>
                <a:cs typeface="Arial MT"/>
              </a:rPr>
              <a:t>world.</a:t>
            </a:r>
            <a:r>
              <a:rPr sz="2950" spc="45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Data</a:t>
            </a:r>
            <a:r>
              <a:rPr sz="2950" spc="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is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clamped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onto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these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units.</a:t>
            </a:r>
            <a:endParaRPr sz="2950" dirty="0">
              <a:latin typeface="Arial MT"/>
              <a:cs typeface="Arial MT"/>
            </a:endParaRPr>
          </a:p>
          <a:p>
            <a:pPr marL="307340" marR="298450" indent="-294005">
              <a:lnSpc>
                <a:spcPct val="105100"/>
              </a:lnSpc>
              <a:spcBef>
                <a:spcPts val="975"/>
              </a:spcBef>
              <a:buChar char="•"/>
              <a:tabLst>
                <a:tab pos="313055" algn="l"/>
              </a:tabLst>
            </a:pPr>
            <a:r>
              <a:rPr sz="3050" spc="-10" dirty="0">
                <a:latin typeface="Arial MT"/>
                <a:cs typeface="Arial MT"/>
              </a:rPr>
              <a:t>Hidden</a:t>
            </a:r>
            <a:r>
              <a:rPr sz="3050" spc="-23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Units:</a:t>
            </a:r>
            <a:r>
              <a:rPr sz="3050" spc="-150" dirty="0">
                <a:latin typeface="Arial MT"/>
                <a:cs typeface="Arial MT"/>
              </a:rPr>
              <a:t> </a:t>
            </a:r>
            <a:r>
              <a:rPr sz="3050" spc="-120" dirty="0">
                <a:latin typeface="Arial MT"/>
                <a:cs typeface="Arial MT"/>
              </a:rPr>
              <a:t>Have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spc="-85" dirty="0">
                <a:latin typeface="Arial MT"/>
                <a:cs typeface="Arial MT"/>
              </a:rPr>
              <a:t>no</a:t>
            </a:r>
            <a:r>
              <a:rPr sz="3050" spc="-13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direct</a:t>
            </a:r>
            <a:r>
              <a:rPr sz="3050" spc="70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connection</a:t>
            </a:r>
            <a:r>
              <a:rPr sz="3050" spc="100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to 	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-110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outside.</a:t>
            </a:r>
            <a:r>
              <a:rPr sz="3050" spc="-95" dirty="0">
                <a:latin typeface="Arial MT"/>
                <a:cs typeface="Arial MT"/>
              </a:rPr>
              <a:t> </a:t>
            </a:r>
            <a:r>
              <a:rPr sz="3050" spc="-60" dirty="0">
                <a:latin typeface="Arial MT"/>
                <a:cs typeface="Arial MT"/>
              </a:rPr>
              <a:t>They</a:t>
            </a:r>
            <a:r>
              <a:rPr sz="3050" spc="-90" dirty="0">
                <a:latin typeface="Arial MT"/>
                <a:cs typeface="Arial MT"/>
              </a:rPr>
              <a:t> </a:t>
            </a:r>
            <a:r>
              <a:rPr sz="3050" spc="-45" dirty="0">
                <a:latin typeface="Arial MT"/>
                <a:cs typeface="Arial MT"/>
              </a:rPr>
              <a:t>are</a:t>
            </a:r>
            <a:r>
              <a:rPr sz="3050" spc="-12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free</a:t>
            </a:r>
            <a:r>
              <a:rPr sz="3050" spc="-14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-210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learn</a:t>
            </a:r>
            <a:r>
              <a:rPr sz="3050" spc="-12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and 	</a:t>
            </a:r>
            <a:r>
              <a:rPr sz="3100" spc="-70" dirty="0">
                <a:latin typeface="Arial MT"/>
                <a:cs typeface="Arial MT"/>
              </a:rPr>
              <a:t>represent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30" dirty="0">
                <a:latin typeface="Arial MT"/>
                <a:cs typeface="Arial MT"/>
              </a:rPr>
              <a:t>abstract </a:t>
            </a:r>
            <a:r>
              <a:rPr sz="3100" spc="-60" dirty="0">
                <a:latin typeface="Arial MT"/>
                <a:cs typeface="Arial MT"/>
              </a:rPr>
              <a:t>features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95" dirty="0">
                <a:latin typeface="Arial MT"/>
                <a:cs typeface="Arial MT"/>
              </a:rPr>
              <a:t>and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correlations 	</a:t>
            </a:r>
            <a:r>
              <a:rPr sz="3050" dirty="0">
                <a:latin typeface="Arial MT"/>
                <a:cs typeface="Arial MT"/>
              </a:rPr>
              <a:t>within</a:t>
            </a:r>
            <a:r>
              <a:rPr sz="3050" spc="-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-21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data.</a:t>
            </a:r>
            <a:endParaRPr sz="3050" dirty="0">
              <a:latin typeface="Arial MT"/>
              <a:cs typeface="Arial MT"/>
            </a:endParaRPr>
          </a:p>
          <a:p>
            <a:pPr marL="313055" marR="5080" indent="-299720">
              <a:lnSpc>
                <a:spcPct val="105800"/>
              </a:lnSpc>
              <a:spcBef>
                <a:spcPts val="725"/>
              </a:spcBef>
              <a:buChar char="•"/>
              <a:tabLst>
                <a:tab pos="313055" algn="l"/>
                <a:tab pos="326390" algn="l"/>
              </a:tabLst>
            </a:pPr>
            <a:r>
              <a:rPr sz="3050" dirty="0">
                <a:latin typeface="Arial MT"/>
                <a:cs typeface="Arial MT"/>
              </a:rPr>
              <a:t>	</a:t>
            </a:r>
            <a:r>
              <a:rPr sz="3050" spc="-190" dirty="0">
                <a:latin typeface="Arial MT"/>
                <a:cs typeface="Arial MT"/>
              </a:rPr>
              <a:t>A</a:t>
            </a:r>
            <a:r>
              <a:rPr sz="3050" spc="-140" dirty="0">
                <a:latin typeface="Arial MT"/>
                <a:cs typeface="Arial MT"/>
              </a:rPr>
              <a:t> </a:t>
            </a:r>
            <a:r>
              <a:rPr sz="3050" spc="-70" dirty="0">
                <a:latin typeface="Arial MT"/>
                <a:cs typeface="Arial MT"/>
              </a:rPr>
              <a:t>New</a:t>
            </a:r>
            <a:r>
              <a:rPr sz="3050" spc="-18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Purpose:</a:t>
            </a:r>
            <a:r>
              <a:rPr sz="3050" spc="-215" dirty="0">
                <a:latin typeface="Arial MT"/>
                <a:cs typeface="Arial MT"/>
              </a:rPr>
              <a:t> </a:t>
            </a:r>
            <a:r>
              <a:rPr sz="3050" spc="-50" dirty="0">
                <a:latin typeface="Arial MT"/>
                <a:cs typeface="Arial MT"/>
              </a:rPr>
              <a:t>With</a:t>
            </a:r>
            <a:r>
              <a:rPr sz="3050" spc="-16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hidden</a:t>
            </a:r>
            <a:r>
              <a:rPr sz="3050" spc="-7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units,</a:t>
            </a:r>
            <a:r>
              <a:rPr sz="3050" spc="-120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the </a:t>
            </a:r>
            <a:r>
              <a:rPr sz="3050" spc="-40" dirty="0">
                <a:latin typeface="Arial MT"/>
                <a:cs typeface="Arial MT"/>
              </a:rPr>
              <a:t>network‘s</a:t>
            </a:r>
            <a:r>
              <a:rPr sz="3050" spc="-1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new</a:t>
            </a:r>
            <a:r>
              <a:rPr sz="3050" spc="-75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role</a:t>
            </a:r>
            <a:r>
              <a:rPr sz="3050" spc="-18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is</a:t>
            </a:r>
            <a:r>
              <a:rPr sz="3050" spc="-6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to</a:t>
            </a:r>
            <a:r>
              <a:rPr sz="3050" spc="-210" dirty="0">
                <a:latin typeface="Arial MT"/>
                <a:cs typeface="Arial MT"/>
              </a:rPr>
              <a:t> </a:t>
            </a:r>
            <a:r>
              <a:rPr sz="3050" spc="50" dirty="0">
                <a:latin typeface="Arial MT"/>
                <a:cs typeface="Arial MT"/>
              </a:rPr>
              <a:t>construct</a:t>
            </a:r>
            <a:r>
              <a:rPr sz="3050" spc="-20" dirty="0">
                <a:latin typeface="Arial MT"/>
                <a:cs typeface="Arial MT"/>
              </a:rPr>
              <a:t> </a:t>
            </a:r>
            <a:r>
              <a:rPr sz="3050" spc="-40" dirty="0">
                <a:latin typeface="Arial MT"/>
                <a:cs typeface="Arial MT"/>
              </a:rPr>
              <a:t>an</a:t>
            </a:r>
            <a:r>
              <a:rPr sz="3050" spc="-204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internal </a:t>
            </a:r>
            <a:r>
              <a:rPr sz="2950" spc="60" dirty="0">
                <a:latin typeface="Arial MT"/>
                <a:cs typeface="Arial MT"/>
              </a:rPr>
              <a:t>model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90" dirty="0">
                <a:latin typeface="Arial MT"/>
                <a:cs typeface="Arial MT"/>
              </a:rPr>
              <a:t>or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105" dirty="0">
                <a:latin typeface="Arial MT"/>
                <a:cs typeface="Arial MT"/>
              </a:rPr>
              <a:t>interpretation</a:t>
            </a:r>
            <a:r>
              <a:rPr sz="2950" spc="-1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60" dirty="0">
                <a:latin typeface="Arial MT"/>
                <a:cs typeface="Arial MT"/>
              </a:rPr>
              <a:t> </a:t>
            </a:r>
            <a:r>
              <a:rPr sz="2950" spc="130" dirty="0">
                <a:latin typeface="Arial MT"/>
                <a:cs typeface="Arial MT"/>
              </a:rPr>
              <a:t>the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sensory</a:t>
            </a:r>
            <a:r>
              <a:rPr sz="2950" spc="85" dirty="0">
                <a:latin typeface="Arial MT"/>
                <a:cs typeface="Arial MT"/>
              </a:rPr>
              <a:t> </a:t>
            </a:r>
            <a:r>
              <a:rPr sz="2950" spc="90" dirty="0">
                <a:latin typeface="Arial MT"/>
                <a:cs typeface="Arial MT"/>
              </a:rPr>
              <a:t>input. </a:t>
            </a:r>
            <a:r>
              <a:rPr sz="3100" spc="-130" dirty="0">
                <a:latin typeface="Arial MT"/>
                <a:cs typeface="Arial MT"/>
              </a:rPr>
              <a:t>The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hidden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units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learn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represent</a:t>
            </a:r>
            <a:r>
              <a:rPr sz="3100" spc="6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</a:t>
            </a:r>
            <a:r>
              <a:rPr sz="3050" spc="-30" dirty="0">
                <a:latin typeface="Arial MT"/>
                <a:cs typeface="Arial MT"/>
              </a:rPr>
              <a:t>underlying</a:t>
            </a:r>
            <a:r>
              <a:rPr sz="3050" spc="2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structure</a:t>
            </a:r>
            <a:r>
              <a:rPr sz="3050" spc="-40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that</a:t>
            </a:r>
            <a:r>
              <a:rPr sz="3050" spc="-70" dirty="0">
                <a:latin typeface="Arial MT"/>
                <a:cs typeface="Arial MT"/>
              </a:rPr>
              <a:t> </a:t>
            </a:r>
            <a:r>
              <a:rPr sz="3050" spc="-65" dirty="0">
                <a:latin typeface="Arial MT"/>
                <a:cs typeface="Arial MT"/>
              </a:rPr>
              <a:t>explains</a:t>
            </a:r>
            <a:r>
              <a:rPr sz="3050" spc="-10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the</a:t>
            </a:r>
            <a:r>
              <a:rPr sz="3050" spc="-10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visible data.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03338" y="2201333"/>
            <a:ext cx="605917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50" dirty="0">
                <a:latin typeface="Arial MT"/>
                <a:cs typeface="Arial MT"/>
              </a:rPr>
              <a:t>Hidden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Layer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(Internal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Representation)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85434" y="8466314"/>
            <a:ext cx="393446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95" dirty="0">
                <a:latin typeface="Arial MT"/>
                <a:cs typeface="Arial MT"/>
              </a:rPr>
              <a:t>Visible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Layer</a:t>
            </a:r>
            <a:r>
              <a:rPr sz="2950" spc="-50" dirty="0">
                <a:latin typeface="Arial MT"/>
                <a:cs typeface="Arial MT"/>
              </a:rPr>
              <a:t> </a:t>
            </a:r>
            <a:r>
              <a:rPr sz="2950" spc="-75" dirty="0">
                <a:latin typeface="Arial MT"/>
                <a:cs typeface="Arial MT"/>
              </a:rPr>
              <a:t>(Input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spc="-125" dirty="0">
                <a:latin typeface="Arial MT"/>
                <a:cs typeface="Arial MT"/>
              </a:rPr>
              <a:t>Data)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1900" y="4495800"/>
            <a:ext cx="5715000" cy="3556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8900" y="4495800"/>
            <a:ext cx="5702300" cy="3556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9763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25"/>
              </a:spcBef>
            </a:pPr>
            <a:r>
              <a:rPr sz="5250" spc="-25" dirty="0">
                <a:solidFill>
                  <a:srgbClr val="1F1F1F"/>
                </a:solidFill>
                <a:latin typeface="Cambria"/>
                <a:cs typeface="Cambria"/>
              </a:rPr>
              <a:t>From</a:t>
            </a:r>
            <a:r>
              <a:rPr sz="5250" spc="-265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5250" spc="-10" dirty="0">
                <a:solidFill>
                  <a:srgbClr val="1F1F1F"/>
                </a:solidFill>
                <a:latin typeface="Cambria"/>
                <a:cs typeface="Cambria"/>
              </a:rPr>
              <a:t>Storing</a:t>
            </a:r>
            <a:r>
              <a:rPr sz="5250" spc="-275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5250" spc="-40" dirty="0">
                <a:solidFill>
                  <a:srgbClr val="212121"/>
                </a:solidFill>
                <a:latin typeface="Cambria"/>
                <a:cs typeface="Cambria"/>
              </a:rPr>
              <a:t>Memories</a:t>
            </a:r>
            <a:r>
              <a:rPr sz="5250" spc="-2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5250" spc="-125" dirty="0">
                <a:solidFill>
                  <a:srgbClr val="232323"/>
                </a:solidFill>
                <a:latin typeface="Cambria"/>
                <a:cs typeface="Cambria"/>
              </a:rPr>
              <a:t>to</a:t>
            </a:r>
            <a:r>
              <a:rPr sz="5250" spc="-229" dirty="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sz="5250" dirty="0">
                <a:solidFill>
                  <a:srgbClr val="1F1F1F"/>
                </a:solidFill>
                <a:latin typeface="Cambria"/>
                <a:cs typeface="Cambria"/>
              </a:rPr>
              <a:t>Building</a:t>
            </a:r>
            <a:r>
              <a:rPr sz="5250" spc="-160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5250" spc="-80" dirty="0">
                <a:solidFill>
                  <a:srgbClr val="212121"/>
                </a:solidFill>
                <a:latin typeface="Cambria"/>
                <a:cs typeface="Cambria"/>
              </a:rPr>
              <a:t>Generative</a:t>
            </a:r>
            <a:r>
              <a:rPr sz="5250" spc="-1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5250" spc="-10" dirty="0">
                <a:solidFill>
                  <a:srgbClr val="212121"/>
                </a:solidFill>
                <a:latin typeface="Cambria"/>
                <a:cs typeface="Cambria"/>
              </a:rPr>
              <a:t>Models</a:t>
            </a:r>
            <a:endParaRPr sz="525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518" y="1807633"/>
            <a:ext cx="15280005" cy="23260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510">
              <a:lnSpc>
                <a:spcPts val="3290"/>
              </a:lnSpc>
              <a:spcBef>
                <a:spcPts val="114"/>
              </a:spcBef>
            </a:pPr>
            <a:r>
              <a:rPr sz="2900" spc="-195" dirty="0">
                <a:latin typeface="Arial MT"/>
                <a:cs typeface="Arial MT"/>
              </a:rPr>
              <a:t>The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75" dirty="0">
                <a:latin typeface="Arial MT"/>
                <a:cs typeface="Arial MT"/>
              </a:rPr>
              <a:t>network's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objective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is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114" dirty="0">
                <a:latin typeface="Arial MT"/>
                <a:cs typeface="Arial MT"/>
              </a:rPr>
              <a:t>now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110" dirty="0">
                <a:latin typeface="Arial MT"/>
                <a:cs typeface="Arial MT"/>
              </a:rPr>
              <a:t>learn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a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probability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distribution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over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its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training </a:t>
            </a:r>
            <a:r>
              <a:rPr sz="2900" spc="-95" dirty="0">
                <a:latin typeface="Arial MT"/>
                <a:cs typeface="Arial MT"/>
              </a:rPr>
              <a:t>data.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</a:t>
            </a:r>
            <a:r>
              <a:rPr sz="2900" spc="-175" dirty="0">
                <a:latin typeface="Arial MT"/>
                <a:cs typeface="Arial MT"/>
              </a:rPr>
              <a:t> </a:t>
            </a:r>
            <a:r>
              <a:rPr sz="2900" spc="-80" dirty="0">
                <a:latin typeface="Arial MT"/>
                <a:cs typeface="Arial MT"/>
              </a:rPr>
              <a:t>learns</a:t>
            </a:r>
            <a:r>
              <a:rPr sz="2900" spc="1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what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ts val="3470"/>
              </a:lnSpc>
            </a:pPr>
            <a:r>
              <a:rPr sz="3050" spc="-220" dirty="0">
                <a:latin typeface="Arial MT"/>
                <a:cs typeface="Arial MT"/>
              </a:rPr>
              <a:t>makes</a:t>
            </a:r>
            <a:r>
              <a:rPr sz="3050" spc="-5" dirty="0">
                <a:latin typeface="Arial MT"/>
                <a:cs typeface="Arial MT"/>
              </a:rPr>
              <a:t> </a:t>
            </a:r>
            <a:r>
              <a:rPr sz="3050" spc="-180" dirty="0">
                <a:latin typeface="Arial MT"/>
                <a:cs typeface="Arial MT"/>
              </a:rPr>
              <a:t>the</a:t>
            </a:r>
            <a:r>
              <a:rPr sz="3050" spc="-55" dirty="0">
                <a:latin typeface="Arial MT"/>
                <a:cs typeface="Arial MT"/>
              </a:rPr>
              <a:t> </a:t>
            </a:r>
            <a:r>
              <a:rPr sz="3050" spc="-220" dirty="0">
                <a:latin typeface="Arial MT"/>
                <a:cs typeface="Arial MT"/>
              </a:rPr>
              <a:t>data</a:t>
            </a:r>
            <a:r>
              <a:rPr sz="3050" spc="-1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“typical.”</a:t>
            </a:r>
            <a:endParaRPr sz="30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1490"/>
              </a:spcBef>
            </a:pPr>
            <a:r>
              <a:rPr sz="2950" spc="-160" dirty="0">
                <a:latin typeface="Arial MT"/>
                <a:cs typeface="Arial MT"/>
              </a:rPr>
              <a:t>Two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spc="-225" dirty="0">
                <a:latin typeface="Arial MT"/>
                <a:cs typeface="Arial MT"/>
              </a:rPr>
              <a:t>Key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spc="-35" dirty="0">
                <a:latin typeface="Arial MT"/>
                <a:cs typeface="Arial MT"/>
              </a:rPr>
              <a:t>Operations:</a:t>
            </a:r>
            <a:endParaRPr sz="2950">
              <a:latin typeface="Arial MT"/>
              <a:cs typeface="Arial MT"/>
            </a:endParaRPr>
          </a:p>
          <a:p>
            <a:pPr marL="2943860">
              <a:lnSpc>
                <a:spcPct val="100000"/>
              </a:lnSpc>
              <a:spcBef>
                <a:spcPts val="2760"/>
              </a:spcBef>
              <a:tabLst>
                <a:tab pos="10783570" algn="l"/>
              </a:tabLst>
            </a:pPr>
            <a:r>
              <a:rPr sz="2900" spc="55" dirty="0">
                <a:latin typeface="Arial MT"/>
                <a:cs typeface="Arial MT"/>
              </a:rPr>
              <a:t>1.</a:t>
            </a:r>
            <a:r>
              <a:rPr sz="2900" spc="-31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Inference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50" dirty="0">
                <a:latin typeface="Arial MT"/>
                <a:cs typeface="Arial MT"/>
              </a:rPr>
              <a:t>2.</a:t>
            </a:r>
            <a:r>
              <a:rPr sz="2950" spc="-165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Generation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4888" y="4483805"/>
            <a:ext cx="1659255" cy="84264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065" marR="5080" indent="-34925" algn="ctr">
              <a:lnSpc>
                <a:spcPct val="87600"/>
              </a:lnSpc>
              <a:spcBef>
                <a:spcPts val="384"/>
              </a:spcBef>
            </a:pPr>
            <a:r>
              <a:rPr sz="1950" spc="-95" dirty="0">
                <a:latin typeface="Arial MT"/>
                <a:cs typeface="Arial MT"/>
              </a:rPr>
              <a:t>Hidden</a:t>
            </a:r>
            <a:r>
              <a:rPr sz="1950" spc="-1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Layer (Internal </a:t>
            </a:r>
            <a:r>
              <a:rPr sz="1950" spc="-80" dirty="0">
                <a:latin typeface="Arial MT"/>
                <a:cs typeface="Arial MT"/>
              </a:rPr>
              <a:t>Representation)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6680" y="6028266"/>
            <a:ext cx="1212215" cy="8636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1305" marR="252095" algn="ctr">
              <a:lnSpc>
                <a:spcPts val="2100"/>
              </a:lnSpc>
              <a:spcBef>
                <a:spcPts val="500"/>
              </a:spcBef>
            </a:pPr>
            <a:r>
              <a:rPr sz="2050" spc="-114" dirty="0">
                <a:latin typeface="Arial MT"/>
                <a:cs typeface="Arial MT"/>
              </a:rPr>
              <a:t>Visible </a:t>
            </a:r>
            <a:r>
              <a:rPr sz="2050" spc="-10" dirty="0">
                <a:latin typeface="Arial MT"/>
                <a:cs typeface="Arial MT"/>
              </a:rPr>
              <a:t>Layer</a:t>
            </a:r>
            <a:endParaRPr sz="2050">
              <a:latin typeface="Arial MT"/>
              <a:cs typeface="Arial MT"/>
            </a:endParaRPr>
          </a:p>
          <a:p>
            <a:pPr algn="ctr">
              <a:lnSpc>
                <a:spcPts val="1989"/>
              </a:lnSpc>
            </a:pPr>
            <a:r>
              <a:rPr sz="2050" spc="-114" dirty="0">
                <a:latin typeface="Arial MT"/>
                <a:cs typeface="Arial MT"/>
              </a:rPr>
              <a:t>(Input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spc="-140" dirty="0">
                <a:latin typeface="Arial MT"/>
                <a:cs typeface="Arial MT"/>
              </a:rPr>
              <a:t>Data)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2702" y="8324850"/>
            <a:ext cx="5953760" cy="7112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70534" marR="5080" indent="-458470">
              <a:lnSpc>
                <a:spcPts val="2400"/>
              </a:lnSpc>
              <a:spcBef>
                <a:spcPts val="680"/>
              </a:spcBef>
            </a:pPr>
            <a:r>
              <a:rPr sz="2500" spc="-235" dirty="0">
                <a:latin typeface="Arial MT"/>
                <a:cs typeface="Arial MT"/>
              </a:rPr>
              <a:t>Given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220" dirty="0">
                <a:latin typeface="Arial MT"/>
                <a:cs typeface="Arial MT"/>
              </a:rPr>
              <a:t>an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input,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the</a:t>
            </a:r>
            <a:r>
              <a:rPr sz="2500" spc="-160" dirty="0">
                <a:latin typeface="Arial MT"/>
                <a:cs typeface="Arial MT"/>
              </a:rPr>
              <a:t> </a:t>
            </a:r>
            <a:r>
              <a:rPr sz="2500" spc="-165" dirty="0">
                <a:latin typeface="Arial MT"/>
                <a:cs typeface="Arial MT"/>
              </a:rPr>
              <a:t>network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155" dirty="0">
                <a:latin typeface="Arial MT"/>
                <a:cs typeface="Arial MT"/>
              </a:rPr>
              <a:t>infers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a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155" dirty="0">
                <a:latin typeface="Arial MT"/>
                <a:cs typeface="Arial MT"/>
              </a:rPr>
              <a:t>rich,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155" dirty="0">
                <a:latin typeface="Arial MT"/>
                <a:cs typeface="Arial MT"/>
              </a:rPr>
              <a:t>abstract </a:t>
            </a:r>
            <a:r>
              <a:rPr sz="2500" spc="-195" dirty="0">
                <a:latin typeface="Arial MT"/>
                <a:cs typeface="Arial MT"/>
              </a:rPr>
              <a:t>feature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spc="-160" dirty="0">
                <a:latin typeface="Arial MT"/>
                <a:cs typeface="Arial MT"/>
              </a:rPr>
              <a:t>representation</a:t>
            </a:r>
            <a:r>
              <a:rPr sz="2500" spc="-19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in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85" dirty="0">
                <a:latin typeface="Arial MT"/>
                <a:cs typeface="Arial MT"/>
              </a:rPr>
              <a:t>the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190" dirty="0">
                <a:latin typeface="Arial MT"/>
                <a:cs typeface="Arial MT"/>
              </a:rPr>
              <a:t>hidden</a:t>
            </a:r>
            <a:r>
              <a:rPr sz="2500" spc="114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units.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2581" y="4492625"/>
            <a:ext cx="1635125" cy="83185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-6350" algn="ctr">
              <a:lnSpc>
                <a:spcPct val="92300"/>
              </a:lnSpc>
              <a:spcBef>
                <a:spcPts val="295"/>
              </a:spcBef>
            </a:pPr>
            <a:r>
              <a:rPr sz="1850" spc="-45" dirty="0">
                <a:latin typeface="Arial MT"/>
                <a:cs typeface="Arial MT"/>
              </a:rPr>
              <a:t>Hidden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Layer (Internal </a:t>
            </a:r>
            <a:r>
              <a:rPr sz="1850" spc="-40" dirty="0">
                <a:latin typeface="Arial MT"/>
                <a:cs typeface="Arial MT"/>
              </a:rPr>
              <a:t>Representation)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46077" y="6037086"/>
            <a:ext cx="695960" cy="85344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69850" marR="5080" indent="-57785">
              <a:lnSpc>
                <a:spcPct val="85400"/>
              </a:lnSpc>
              <a:spcBef>
                <a:spcPts val="464"/>
              </a:spcBef>
            </a:pPr>
            <a:r>
              <a:rPr sz="2000" spc="-105" dirty="0">
                <a:latin typeface="Arial MT"/>
                <a:cs typeface="Arial MT"/>
              </a:rPr>
              <a:t>Visible </a:t>
            </a:r>
            <a:r>
              <a:rPr sz="2000" spc="-50" dirty="0">
                <a:latin typeface="Arial MT"/>
                <a:cs typeface="Arial MT"/>
              </a:rPr>
              <a:t>Layer </a:t>
            </a:r>
            <a:r>
              <a:rPr sz="2000" spc="-25" dirty="0">
                <a:latin typeface="Arial MT"/>
                <a:cs typeface="Arial MT"/>
              </a:rPr>
              <a:t>Data)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26330" y="8324850"/>
            <a:ext cx="6755765" cy="7112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 indent="213360">
              <a:lnSpc>
                <a:spcPts val="2400"/>
              </a:lnSpc>
              <a:spcBef>
                <a:spcPts val="680"/>
              </a:spcBef>
            </a:pPr>
            <a:r>
              <a:rPr sz="2500" spc="-250" dirty="0">
                <a:latin typeface="Arial MT"/>
                <a:cs typeface="Arial MT"/>
              </a:rPr>
              <a:t>Running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spc="-175" dirty="0">
                <a:latin typeface="Arial MT"/>
                <a:cs typeface="Arial MT"/>
              </a:rPr>
              <a:t>freely,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the</a:t>
            </a:r>
            <a:r>
              <a:rPr sz="2500" spc="-165" dirty="0">
                <a:latin typeface="Arial MT"/>
                <a:cs typeface="Arial MT"/>
              </a:rPr>
              <a:t> </a:t>
            </a:r>
            <a:r>
              <a:rPr sz="2500" spc="-155" dirty="0">
                <a:latin typeface="Arial MT"/>
                <a:cs typeface="Arial MT"/>
              </a:rPr>
              <a:t>network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spc="-240" dirty="0">
                <a:latin typeface="Arial MT"/>
                <a:cs typeface="Arial MT"/>
              </a:rPr>
              <a:t>can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195" dirty="0">
                <a:latin typeface="Arial MT"/>
                <a:cs typeface="Arial MT"/>
              </a:rPr>
              <a:t>generate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new,</a:t>
            </a:r>
            <a:r>
              <a:rPr sz="2500" spc="-10" dirty="0">
                <a:latin typeface="Arial MT"/>
                <a:cs typeface="Arial MT"/>
              </a:rPr>
              <a:t> novel </a:t>
            </a:r>
            <a:r>
              <a:rPr sz="2500" spc="-225" dirty="0">
                <a:latin typeface="Arial MT"/>
                <a:cs typeface="Arial MT"/>
              </a:rPr>
              <a:t>samples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spc="-215" dirty="0">
                <a:latin typeface="Arial MT"/>
                <a:cs typeface="Arial MT"/>
              </a:rPr>
              <a:t>drawn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204" dirty="0">
                <a:latin typeface="Arial MT"/>
                <a:cs typeface="Arial MT"/>
              </a:rPr>
              <a:t>from</a:t>
            </a:r>
            <a:r>
              <a:rPr sz="2500" spc="3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the</a:t>
            </a:r>
            <a:r>
              <a:rPr sz="2500" spc="-170" dirty="0">
                <a:latin typeface="Arial MT"/>
                <a:cs typeface="Arial MT"/>
              </a:rPr>
              <a:t> </a:t>
            </a:r>
            <a:r>
              <a:rPr sz="2500" spc="-200" dirty="0">
                <a:latin typeface="Arial MT"/>
                <a:cs typeface="Arial MT"/>
              </a:rPr>
              <a:t>learned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probability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spc="-130" dirty="0">
                <a:latin typeface="Arial MT"/>
                <a:cs typeface="Arial MT"/>
              </a:rPr>
              <a:t>distribution.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2200" y="1968500"/>
            <a:ext cx="50800" cy="6705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1230" y="562680"/>
            <a:ext cx="14246860" cy="9886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300" spc="-960" dirty="0"/>
              <a:t>A</a:t>
            </a:r>
            <a:r>
              <a:rPr sz="6300" spc="-325" dirty="0"/>
              <a:t> </a:t>
            </a:r>
            <a:r>
              <a:rPr sz="6300" spc="-315" dirty="0"/>
              <a:t>Tale</a:t>
            </a:r>
            <a:r>
              <a:rPr sz="6300" spc="-80" dirty="0"/>
              <a:t> </a:t>
            </a:r>
            <a:r>
              <a:rPr sz="6300" spc="-370" dirty="0"/>
              <a:t>of</a:t>
            </a:r>
            <a:r>
              <a:rPr sz="6300" spc="-25" dirty="0"/>
              <a:t> </a:t>
            </a:r>
            <a:r>
              <a:rPr sz="6300" spc="-385" dirty="0"/>
              <a:t>Two</a:t>
            </a:r>
            <a:r>
              <a:rPr sz="6300" spc="120" dirty="0"/>
              <a:t> </a:t>
            </a:r>
            <a:r>
              <a:rPr sz="6300" spc="-210" dirty="0"/>
              <a:t>Networks:</a:t>
            </a:r>
            <a:r>
              <a:rPr sz="6300" spc="25" dirty="0"/>
              <a:t> </a:t>
            </a:r>
            <a:r>
              <a:rPr sz="6300" spc="-960" dirty="0"/>
              <a:t>A</a:t>
            </a:r>
            <a:r>
              <a:rPr sz="6300" spc="-140" dirty="0"/>
              <a:t> </a:t>
            </a:r>
            <a:r>
              <a:rPr sz="6300" spc="-105" dirty="0"/>
              <a:t>Direct</a:t>
            </a:r>
            <a:r>
              <a:rPr sz="6300" dirty="0"/>
              <a:t> </a:t>
            </a:r>
            <a:r>
              <a:rPr sz="6300" spc="-95" dirty="0"/>
              <a:t>Comparison</a:t>
            </a:r>
            <a:endParaRPr sz="63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32591" y="1658531"/>
            <a:ext cx="5120005" cy="7020559"/>
          </a:xfrm>
          <a:prstGeom prst="rect">
            <a:avLst/>
          </a:prstGeom>
        </p:spPr>
        <p:txBody>
          <a:bodyPr vert="horz" wrap="square" lIns="0" tIns="30988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440"/>
              </a:spcBef>
            </a:pPr>
            <a:r>
              <a:rPr sz="3750" dirty="0">
                <a:latin typeface="Arial MT"/>
                <a:cs typeface="Arial MT"/>
              </a:rPr>
              <a:t>Hopfield</a:t>
            </a:r>
            <a:r>
              <a:rPr sz="3750" spc="245" dirty="0">
                <a:latin typeface="Arial MT"/>
                <a:cs typeface="Arial MT"/>
              </a:rPr>
              <a:t> </a:t>
            </a:r>
            <a:r>
              <a:rPr sz="3750" spc="45" dirty="0">
                <a:latin typeface="Arial MT"/>
                <a:cs typeface="Arial MT"/>
              </a:rPr>
              <a:t>Network</a:t>
            </a:r>
            <a:endParaRPr sz="3750">
              <a:latin typeface="Arial MT"/>
              <a:cs typeface="Arial MT"/>
            </a:endParaRPr>
          </a:p>
          <a:p>
            <a:pPr marL="26670" marR="2980690" indent="-13335">
              <a:lnSpc>
                <a:spcPct val="101699"/>
              </a:lnSpc>
              <a:spcBef>
                <a:spcPts val="1839"/>
              </a:spcBef>
            </a:pPr>
            <a:r>
              <a:rPr sz="2950" spc="40" dirty="0">
                <a:latin typeface="Arial MT"/>
                <a:cs typeface="Arial MT"/>
              </a:rPr>
              <a:t>Units </a:t>
            </a:r>
            <a:r>
              <a:rPr sz="2950" spc="-45" dirty="0">
                <a:latin typeface="Arial MT"/>
                <a:cs typeface="Arial MT"/>
              </a:rPr>
              <a:t>Deterministic</a:t>
            </a:r>
            <a:endParaRPr sz="2950">
              <a:latin typeface="Arial MT"/>
              <a:cs typeface="Arial MT"/>
            </a:endParaRPr>
          </a:p>
          <a:p>
            <a:pPr marL="31115">
              <a:lnSpc>
                <a:spcPct val="100000"/>
              </a:lnSpc>
              <a:spcBef>
                <a:spcPts val="1810"/>
              </a:spcBef>
            </a:pPr>
            <a:r>
              <a:rPr sz="2950" spc="50" dirty="0">
                <a:latin typeface="Arial MT"/>
                <a:cs typeface="Arial MT"/>
              </a:rPr>
              <a:t>Architecture</a:t>
            </a:r>
            <a:endParaRPr sz="2950">
              <a:latin typeface="Arial MT"/>
              <a:cs typeface="Arial MT"/>
            </a:endParaRPr>
          </a:p>
          <a:p>
            <a:pPr marL="26670">
              <a:lnSpc>
                <a:spcPct val="100000"/>
              </a:lnSpc>
              <a:spcBef>
                <a:spcPts val="60"/>
              </a:spcBef>
            </a:pPr>
            <a:r>
              <a:rPr sz="2950" spc="-55" dirty="0">
                <a:latin typeface="Arial MT"/>
                <a:cs typeface="Arial MT"/>
              </a:rPr>
              <a:t>Single</a:t>
            </a:r>
            <a:r>
              <a:rPr sz="2950" spc="-15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Layer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(No</a:t>
            </a:r>
            <a:r>
              <a:rPr sz="2950" spc="-17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Hidden</a:t>
            </a:r>
            <a:r>
              <a:rPr sz="2950" spc="-18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Units)</a:t>
            </a:r>
            <a:endParaRPr sz="2950">
              <a:latin typeface="Arial MT"/>
              <a:cs typeface="Arial MT"/>
            </a:endParaRPr>
          </a:p>
          <a:p>
            <a:pPr marL="13970">
              <a:lnSpc>
                <a:spcPts val="3795"/>
              </a:lnSpc>
              <a:spcBef>
                <a:spcPts val="1560"/>
              </a:spcBef>
            </a:pPr>
            <a:r>
              <a:rPr sz="3200" spc="-30" dirty="0">
                <a:latin typeface="Arial MT"/>
                <a:cs typeface="Arial MT"/>
              </a:rPr>
              <a:t>Behavior</a:t>
            </a:r>
            <a:endParaRPr sz="3200">
              <a:latin typeface="Arial MT"/>
              <a:cs typeface="Arial MT"/>
            </a:endParaRPr>
          </a:p>
          <a:p>
            <a:pPr marL="24130">
              <a:lnSpc>
                <a:spcPts val="3615"/>
              </a:lnSpc>
            </a:pPr>
            <a:r>
              <a:rPr sz="3050" spc="-100" dirty="0">
                <a:latin typeface="Arial MT"/>
                <a:cs typeface="Arial MT"/>
              </a:rPr>
              <a:t>Finds</a:t>
            </a:r>
            <a:r>
              <a:rPr sz="3050" spc="-114" dirty="0">
                <a:latin typeface="Arial MT"/>
                <a:cs typeface="Arial MT"/>
              </a:rPr>
              <a:t> </a:t>
            </a:r>
            <a:r>
              <a:rPr sz="3050" spc="-80" dirty="0">
                <a:latin typeface="Arial MT"/>
                <a:cs typeface="Arial MT"/>
              </a:rPr>
              <a:t>Nearest</a:t>
            </a:r>
            <a:r>
              <a:rPr sz="3050" spc="-65" dirty="0">
                <a:latin typeface="Arial MT"/>
                <a:cs typeface="Arial MT"/>
              </a:rPr>
              <a:t> </a:t>
            </a:r>
            <a:r>
              <a:rPr sz="3050" spc="-95" dirty="0">
                <a:latin typeface="Arial MT"/>
                <a:cs typeface="Arial MT"/>
              </a:rPr>
              <a:t>Local</a:t>
            </a:r>
            <a:r>
              <a:rPr sz="3050" spc="-120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Minimum</a:t>
            </a:r>
            <a:endParaRPr sz="3050">
              <a:latin typeface="Arial MT"/>
              <a:cs typeface="Arial MT"/>
            </a:endParaRPr>
          </a:p>
          <a:p>
            <a:pPr marL="12700">
              <a:lnSpc>
                <a:spcPts val="3495"/>
              </a:lnSpc>
              <a:spcBef>
                <a:spcPts val="1839"/>
              </a:spcBef>
            </a:pPr>
            <a:r>
              <a:rPr sz="2950" spc="-10" dirty="0">
                <a:latin typeface="Arial MT"/>
                <a:cs typeface="Arial MT"/>
              </a:rPr>
              <a:t>Function</a:t>
            </a:r>
            <a:endParaRPr sz="2950">
              <a:latin typeface="Arial MT"/>
              <a:cs typeface="Arial MT"/>
            </a:endParaRPr>
          </a:p>
          <a:p>
            <a:pPr marL="23495" marR="456565" indent="7620">
              <a:lnSpc>
                <a:spcPts val="3300"/>
              </a:lnSpc>
              <a:spcBef>
                <a:spcPts val="415"/>
              </a:spcBef>
            </a:pPr>
            <a:r>
              <a:rPr sz="3100" spc="-135" dirty="0">
                <a:latin typeface="Arial MT"/>
                <a:cs typeface="Arial MT"/>
              </a:rPr>
              <a:t>Associative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140" dirty="0">
                <a:latin typeface="Arial MT"/>
                <a:cs typeface="Arial MT"/>
              </a:rPr>
              <a:t>Memory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spc="-110" dirty="0">
                <a:latin typeface="Arial MT"/>
                <a:cs typeface="Arial MT"/>
              </a:rPr>
              <a:t>(Pattern </a:t>
            </a:r>
            <a:r>
              <a:rPr sz="3100" spc="-85" dirty="0">
                <a:latin typeface="Arial MT"/>
                <a:cs typeface="Arial MT"/>
              </a:rPr>
              <a:t>Completion)</a:t>
            </a:r>
            <a:endParaRPr sz="3100">
              <a:latin typeface="Arial MT"/>
              <a:cs typeface="Arial MT"/>
            </a:endParaRPr>
          </a:p>
          <a:p>
            <a:pPr marL="14604">
              <a:lnSpc>
                <a:spcPts val="3610"/>
              </a:lnSpc>
              <a:spcBef>
                <a:spcPts val="1590"/>
              </a:spcBef>
            </a:pPr>
            <a:r>
              <a:rPr sz="3100" spc="-65" dirty="0">
                <a:latin typeface="Arial MT"/>
                <a:cs typeface="Arial MT"/>
              </a:rPr>
              <a:t>Learning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Phase</a:t>
            </a:r>
            <a:endParaRPr sz="3100">
              <a:latin typeface="Arial MT"/>
              <a:cs typeface="Arial MT"/>
            </a:endParaRPr>
          </a:p>
          <a:p>
            <a:pPr marL="25400">
              <a:lnSpc>
                <a:spcPts val="3729"/>
              </a:lnSpc>
            </a:pPr>
            <a:r>
              <a:rPr sz="3200" spc="-215" dirty="0">
                <a:latin typeface="Arial MT"/>
                <a:cs typeface="Arial MT"/>
              </a:rPr>
              <a:t>Storage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Phase</a:t>
            </a:r>
            <a:r>
              <a:rPr sz="3200" spc="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/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20" dirty="0">
                <a:latin typeface="Arial MT"/>
                <a:cs typeface="Arial MT"/>
              </a:rPr>
              <a:t>Retrieval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spc="-345" dirty="0">
                <a:latin typeface="Arial MT"/>
                <a:cs typeface="Arial MT"/>
              </a:rPr>
              <a:t>Phase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0391" y="1720336"/>
            <a:ext cx="6298565" cy="695198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2055"/>
              </a:spcBef>
            </a:pPr>
            <a:r>
              <a:rPr sz="3650" spc="70" dirty="0">
                <a:latin typeface="Arial MT"/>
                <a:cs typeface="Arial MT"/>
              </a:rPr>
              <a:t>Boltzmann</a:t>
            </a:r>
            <a:r>
              <a:rPr sz="3650" spc="15" dirty="0">
                <a:latin typeface="Arial MT"/>
                <a:cs typeface="Arial MT"/>
              </a:rPr>
              <a:t> </a:t>
            </a:r>
            <a:r>
              <a:rPr sz="3650" spc="80" dirty="0">
                <a:latin typeface="Arial MT"/>
                <a:cs typeface="Arial MT"/>
              </a:rPr>
              <a:t>Machine</a:t>
            </a:r>
            <a:endParaRPr sz="3650">
              <a:latin typeface="Arial MT"/>
              <a:cs typeface="Arial MT"/>
            </a:endParaRPr>
          </a:p>
          <a:p>
            <a:pPr marL="21590">
              <a:lnSpc>
                <a:spcPts val="3770"/>
              </a:lnSpc>
              <a:spcBef>
                <a:spcPts val="1670"/>
              </a:spcBef>
            </a:pPr>
            <a:r>
              <a:rPr sz="3200" spc="-390" dirty="0">
                <a:latin typeface="Consolas"/>
                <a:cs typeface="Consolas"/>
              </a:rPr>
              <a:t>Units</a:t>
            </a:r>
            <a:endParaRPr sz="3200">
              <a:latin typeface="Consolas"/>
              <a:cs typeface="Consolas"/>
            </a:endParaRPr>
          </a:p>
          <a:p>
            <a:pPr marL="22225">
              <a:lnSpc>
                <a:spcPts val="3650"/>
              </a:lnSpc>
            </a:pPr>
            <a:r>
              <a:rPr sz="3100" spc="-110" dirty="0">
                <a:latin typeface="Consolas"/>
                <a:cs typeface="Consolas"/>
              </a:rPr>
              <a:t>StochasGc</a:t>
            </a:r>
            <a:endParaRPr sz="3100">
              <a:latin typeface="Consolas"/>
              <a:cs typeface="Consolas"/>
            </a:endParaRPr>
          </a:p>
          <a:p>
            <a:pPr marL="31115">
              <a:lnSpc>
                <a:spcPts val="3554"/>
              </a:lnSpc>
              <a:spcBef>
                <a:spcPts val="1680"/>
              </a:spcBef>
            </a:pPr>
            <a:r>
              <a:rPr sz="3050" spc="-10" dirty="0">
                <a:latin typeface="Arial MT"/>
                <a:cs typeface="Arial MT"/>
              </a:rPr>
              <a:t>Architecture</a:t>
            </a:r>
            <a:endParaRPr sz="3050">
              <a:latin typeface="Arial MT"/>
              <a:cs typeface="Arial MT"/>
            </a:endParaRPr>
          </a:p>
          <a:p>
            <a:pPr marL="23495">
              <a:lnSpc>
                <a:spcPts val="3735"/>
              </a:lnSpc>
            </a:pPr>
            <a:r>
              <a:rPr sz="3200" spc="-300" dirty="0">
                <a:latin typeface="Arial MT"/>
                <a:cs typeface="Arial MT"/>
              </a:rPr>
              <a:t>Can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220" dirty="0">
                <a:latin typeface="Arial MT"/>
                <a:cs typeface="Arial MT"/>
              </a:rPr>
              <a:t>have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85" dirty="0">
                <a:latin typeface="Arial MT"/>
                <a:cs typeface="Arial MT"/>
              </a:rPr>
              <a:t>Hidden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Units</a:t>
            </a:r>
            <a:endParaRPr sz="32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1760"/>
              </a:spcBef>
            </a:pPr>
            <a:r>
              <a:rPr sz="2950" spc="-10" dirty="0">
                <a:latin typeface="Arial MT"/>
                <a:cs typeface="Arial MT"/>
              </a:rPr>
              <a:t>Behavior</a:t>
            </a:r>
            <a:endParaRPr sz="2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60"/>
              </a:spcBef>
            </a:pPr>
            <a:r>
              <a:rPr sz="2950" spc="-25" dirty="0">
                <a:latin typeface="Arial MT"/>
                <a:cs typeface="Arial MT"/>
              </a:rPr>
              <a:t>Finds</a:t>
            </a:r>
            <a:r>
              <a:rPr sz="2950" spc="-125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Global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Minimum</a:t>
            </a:r>
            <a:r>
              <a:rPr sz="2950" spc="-9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(via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Annealing)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2950" spc="-10" dirty="0">
                <a:latin typeface="Arial MT"/>
                <a:cs typeface="Arial MT"/>
              </a:rPr>
              <a:t>Function</a:t>
            </a:r>
            <a:endParaRPr sz="2950">
              <a:latin typeface="Arial MT"/>
              <a:cs typeface="Arial MT"/>
            </a:endParaRPr>
          </a:p>
          <a:p>
            <a:pPr marL="26670" marR="1208405" indent="-3810">
              <a:lnSpc>
                <a:spcPts val="3300"/>
              </a:lnSpc>
              <a:spcBef>
                <a:spcPts val="370"/>
              </a:spcBef>
            </a:pPr>
            <a:r>
              <a:rPr sz="2950" spc="-45" dirty="0">
                <a:latin typeface="Arial MT"/>
                <a:cs typeface="Arial MT"/>
              </a:rPr>
              <a:t>Generative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Model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(Learns</a:t>
            </a:r>
            <a:r>
              <a:rPr sz="2950" spc="-125" dirty="0">
                <a:latin typeface="Arial MT"/>
                <a:cs typeface="Arial MT"/>
              </a:rPr>
              <a:t> </a:t>
            </a:r>
            <a:r>
              <a:rPr sz="2950" spc="-90" dirty="0">
                <a:latin typeface="Arial MT"/>
                <a:cs typeface="Arial MT"/>
              </a:rPr>
              <a:t>Data </a:t>
            </a:r>
            <a:r>
              <a:rPr sz="2950" spc="-10" dirty="0">
                <a:latin typeface="Arial MT"/>
                <a:cs typeface="Arial MT"/>
              </a:rPr>
              <a:t>Distribution)</a:t>
            </a:r>
            <a:endParaRPr sz="29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1790"/>
              </a:spcBef>
            </a:pPr>
            <a:r>
              <a:rPr sz="2900" dirty="0">
                <a:latin typeface="Arial MT"/>
                <a:cs typeface="Arial MT"/>
              </a:rPr>
              <a:t>Learning</a:t>
            </a:r>
            <a:r>
              <a:rPr sz="2900" spc="19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Phase</a:t>
            </a:r>
            <a:endParaRPr sz="290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120"/>
              </a:spcBef>
            </a:pPr>
            <a:r>
              <a:rPr sz="2900" spc="-10" dirty="0">
                <a:latin typeface="Arial MT"/>
                <a:cs typeface="Arial MT"/>
              </a:rPr>
              <a:t>Clamping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Phase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/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Free-</a:t>
            </a:r>
            <a:r>
              <a:rPr sz="2900" spc="-20" dirty="0">
                <a:latin typeface="Arial MT"/>
                <a:cs typeface="Arial MT"/>
              </a:rPr>
              <a:t>Running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Phase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600" y="8242300"/>
            <a:ext cx="1409700" cy="1181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400" y="7239000"/>
            <a:ext cx="609600" cy="749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7700" y="7239000"/>
            <a:ext cx="558800" cy="762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03500" y="7226300"/>
            <a:ext cx="647700" cy="774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8600" y="3530600"/>
            <a:ext cx="1397000" cy="1206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0600" y="2311400"/>
            <a:ext cx="1384300" cy="965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89200" y="2489200"/>
            <a:ext cx="889000" cy="7493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427816" y="2349500"/>
            <a:ext cx="0" cy="961390"/>
          </a:xfrm>
          <a:custGeom>
            <a:avLst/>
            <a:gdLst/>
            <a:ahLst/>
            <a:cxnLst/>
            <a:rect l="l" t="t" r="r" b="b"/>
            <a:pathLst>
              <a:path h="961389">
                <a:moveTo>
                  <a:pt x="0" y="960966"/>
                </a:moveTo>
                <a:lnTo>
                  <a:pt x="0" y="0"/>
                </a:lnTo>
              </a:path>
            </a:pathLst>
          </a:custGeom>
          <a:ln w="21166">
            <a:solidFill>
              <a:srgbClr val="546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417232" y="2349500"/>
            <a:ext cx="974090" cy="961390"/>
            <a:chOff x="2417232" y="2349500"/>
            <a:chExt cx="974090" cy="961390"/>
          </a:xfrm>
        </p:grpSpPr>
        <p:sp>
          <p:nvSpPr>
            <p:cNvPr id="11" name="object 11"/>
            <p:cNvSpPr/>
            <p:nvPr/>
          </p:nvSpPr>
          <p:spPr>
            <a:xfrm>
              <a:off x="3380316" y="2349500"/>
              <a:ext cx="0" cy="961390"/>
            </a:xfrm>
            <a:custGeom>
              <a:avLst/>
              <a:gdLst/>
              <a:ahLst/>
              <a:cxnLst/>
              <a:rect l="l" t="t" r="r" b="b"/>
              <a:pathLst>
                <a:path h="961389">
                  <a:moveTo>
                    <a:pt x="0" y="9609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546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7232" y="2360083"/>
              <a:ext cx="974090" cy="0"/>
            </a:xfrm>
            <a:custGeom>
              <a:avLst/>
              <a:gdLst/>
              <a:ahLst/>
              <a:cxnLst/>
              <a:rect l="l" t="t" r="r" b="b"/>
              <a:pathLst>
                <a:path w="974089">
                  <a:moveTo>
                    <a:pt x="0" y="0"/>
                  </a:moveTo>
                  <a:lnTo>
                    <a:pt x="973666" y="0"/>
                  </a:lnTo>
                </a:path>
              </a:pathLst>
            </a:custGeom>
            <a:ln w="21166">
              <a:solidFill>
                <a:srgbClr val="546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17232" y="3299883"/>
              <a:ext cx="974090" cy="0"/>
            </a:xfrm>
            <a:custGeom>
              <a:avLst/>
              <a:gdLst/>
              <a:ahLst/>
              <a:cxnLst/>
              <a:rect l="l" t="t" r="r" b="b"/>
              <a:pathLst>
                <a:path w="974089">
                  <a:moveTo>
                    <a:pt x="0" y="0"/>
                  </a:moveTo>
                  <a:lnTo>
                    <a:pt x="973666" y="0"/>
                  </a:lnTo>
                </a:path>
              </a:pathLst>
            </a:custGeom>
            <a:ln w="21166">
              <a:solidFill>
                <a:srgbClr val="546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65500" y="2387600"/>
              <a:ext cx="25400" cy="85090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460500" y="5473700"/>
            <a:ext cx="1473200" cy="1511300"/>
            <a:chOff x="1460500" y="5473700"/>
            <a:chExt cx="1473200" cy="151130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8200" y="6451600"/>
              <a:ext cx="825500" cy="533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60500" y="5905500"/>
              <a:ext cx="660400" cy="660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8200" y="5473700"/>
              <a:ext cx="825500" cy="533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14600" y="6019800"/>
              <a:ext cx="419100" cy="41910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977785" y="710847"/>
            <a:ext cx="10348595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spc="-105" dirty="0"/>
              <a:t>Distinct</a:t>
            </a:r>
            <a:r>
              <a:rPr sz="5900" spc="-265" dirty="0"/>
              <a:t> </a:t>
            </a:r>
            <a:r>
              <a:rPr sz="5900" spc="-250" dirty="0"/>
              <a:t>Tools</a:t>
            </a:r>
            <a:r>
              <a:rPr sz="5900" spc="-160" dirty="0"/>
              <a:t> </a:t>
            </a:r>
            <a:r>
              <a:rPr sz="5900" dirty="0"/>
              <a:t>for</a:t>
            </a:r>
            <a:r>
              <a:rPr sz="5900" spc="-310" dirty="0"/>
              <a:t> </a:t>
            </a:r>
            <a:r>
              <a:rPr sz="5900" spc="-80" dirty="0"/>
              <a:t>Distinct</a:t>
            </a:r>
            <a:r>
              <a:rPr sz="5900" spc="-75" dirty="0"/>
              <a:t> </a:t>
            </a:r>
            <a:r>
              <a:rPr sz="5900" spc="-130" dirty="0"/>
              <a:t>Problems</a:t>
            </a:r>
            <a:endParaRPr sz="590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802843" y="1764560"/>
            <a:ext cx="12628880" cy="7529195"/>
          </a:xfrm>
          <a:prstGeom prst="rect">
            <a:avLst/>
          </a:prstGeom>
        </p:spPr>
        <p:txBody>
          <a:bodyPr vert="horz" wrap="square" lIns="0" tIns="26733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105"/>
              </a:spcBef>
            </a:pPr>
            <a:r>
              <a:rPr sz="3600" spc="-145" dirty="0">
                <a:latin typeface="Times New Roman"/>
                <a:cs typeface="Times New Roman"/>
              </a:rPr>
              <a:t>Hopfield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04" dirty="0">
                <a:latin typeface="Times New Roman"/>
                <a:cs typeface="Times New Roman"/>
              </a:rPr>
              <a:t>Network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Applications: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Built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95" dirty="0">
                <a:latin typeface="Times New Roman"/>
                <a:cs typeface="Times New Roman"/>
              </a:rPr>
              <a:t>for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retrieval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optimization.</a:t>
            </a:r>
            <a:endParaRPr sz="36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1630"/>
              </a:spcBef>
            </a:pPr>
            <a:r>
              <a:rPr sz="2900" spc="-30" dirty="0">
                <a:latin typeface="Arial MT"/>
                <a:cs typeface="Arial MT"/>
              </a:rPr>
              <a:t>Pattern</a:t>
            </a:r>
            <a:r>
              <a:rPr sz="2900" spc="-170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Completion</a:t>
            </a:r>
            <a:r>
              <a:rPr sz="2900" spc="-145" dirty="0">
                <a:latin typeface="Arial MT"/>
                <a:cs typeface="Arial MT"/>
              </a:rPr>
              <a:t> </a:t>
            </a:r>
            <a:r>
              <a:rPr sz="2900" spc="-220" dirty="0">
                <a:latin typeface="Arial MT"/>
                <a:cs typeface="Arial MT"/>
              </a:rPr>
              <a:t>&amp;</a:t>
            </a:r>
            <a:r>
              <a:rPr sz="2900" spc="-285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Image</a:t>
            </a:r>
            <a:r>
              <a:rPr sz="2900" spc="-185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Restoration: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Cleaning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up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noisy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or </a:t>
            </a:r>
            <a:r>
              <a:rPr sz="2900" spc="-75" dirty="0">
                <a:latin typeface="Arial MT"/>
                <a:cs typeface="Arial MT"/>
              </a:rPr>
              <a:t>incomplete</a:t>
            </a:r>
            <a:r>
              <a:rPr sz="2900" spc="4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data.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2900">
              <a:latin typeface="Arial MT"/>
              <a:cs typeface="Arial MT"/>
            </a:endParaRPr>
          </a:p>
          <a:p>
            <a:pPr marL="36195" marR="974090" indent="-10160">
              <a:lnSpc>
                <a:spcPts val="3200"/>
              </a:lnSpc>
            </a:pPr>
            <a:r>
              <a:rPr sz="2950" spc="-60" dirty="0">
                <a:latin typeface="Arial MT"/>
                <a:cs typeface="Arial MT"/>
              </a:rPr>
              <a:t>Combinatorial</a:t>
            </a:r>
            <a:r>
              <a:rPr sz="2950" spc="-150" dirty="0">
                <a:latin typeface="Arial MT"/>
                <a:cs typeface="Arial MT"/>
              </a:rPr>
              <a:t> </a:t>
            </a:r>
            <a:r>
              <a:rPr sz="2950" spc="-40" dirty="0">
                <a:latin typeface="Arial MT"/>
                <a:cs typeface="Arial MT"/>
              </a:rPr>
              <a:t>Optimization: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spc="-120" dirty="0">
                <a:latin typeface="Arial MT"/>
                <a:cs typeface="Arial MT"/>
              </a:rPr>
              <a:t>Finding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spc="-20" dirty="0">
                <a:latin typeface="Arial MT"/>
                <a:cs typeface="Arial MT"/>
              </a:rPr>
              <a:t>efficient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85" dirty="0">
                <a:latin typeface="Arial MT"/>
                <a:cs typeface="Arial MT"/>
              </a:rPr>
              <a:t>solutions</a:t>
            </a:r>
            <a:r>
              <a:rPr sz="2950" spc="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to</a:t>
            </a:r>
            <a:r>
              <a:rPr sz="2950" spc="-21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problems</a:t>
            </a:r>
            <a:r>
              <a:rPr sz="2950" spc="-75" dirty="0">
                <a:latin typeface="Arial MT"/>
                <a:cs typeface="Arial MT"/>
              </a:rPr>
              <a:t> like</a:t>
            </a:r>
            <a:r>
              <a:rPr sz="2950" spc="-13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the </a:t>
            </a:r>
            <a:r>
              <a:rPr sz="2950" spc="-130" dirty="0">
                <a:latin typeface="Arial MT"/>
                <a:cs typeface="Arial MT"/>
              </a:rPr>
              <a:t>Travelling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200" dirty="0">
                <a:latin typeface="Arial MT"/>
                <a:cs typeface="Arial MT"/>
              </a:rPr>
              <a:t>Salesman</a:t>
            </a:r>
            <a:r>
              <a:rPr sz="295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Problem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(TSP).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15"/>
              </a:spcBef>
            </a:pPr>
            <a:endParaRPr sz="2950">
              <a:latin typeface="Arial MT"/>
              <a:cs typeface="Arial MT"/>
            </a:endParaRPr>
          </a:p>
          <a:p>
            <a:pPr marL="27940" indent="-9525">
              <a:lnSpc>
                <a:spcPct val="100000"/>
              </a:lnSpc>
            </a:pPr>
            <a:r>
              <a:rPr sz="3450" spc="-160" dirty="0">
                <a:latin typeface="Cambria"/>
                <a:cs typeface="Cambria"/>
              </a:rPr>
              <a:t>Boltzmann</a:t>
            </a:r>
            <a:r>
              <a:rPr sz="3450" spc="-40" dirty="0">
                <a:latin typeface="Cambria"/>
                <a:cs typeface="Cambria"/>
              </a:rPr>
              <a:t> </a:t>
            </a:r>
            <a:r>
              <a:rPr sz="3450" spc="-130" dirty="0">
                <a:latin typeface="Cambria"/>
                <a:cs typeface="Cambria"/>
              </a:rPr>
              <a:t>Machine</a:t>
            </a:r>
            <a:r>
              <a:rPr sz="3450" spc="-60" dirty="0">
                <a:latin typeface="Cambria"/>
                <a:cs typeface="Cambria"/>
              </a:rPr>
              <a:t> </a:t>
            </a:r>
            <a:r>
              <a:rPr sz="3450" spc="-135" dirty="0">
                <a:latin typeface="Cambria"/>
                <a:cs typeface="Cambria"/>
              </a:rPr>
              <a:t>Applications:</a:t>
            </a:r>
            <a:r>
              <a:rPr sz="3450" spc="-10" dirty="0">
                <a:latin typeface="Cambria"/>
                <a:cs typeface="Cambria"/>
              </a:rPr>
              <a:t> </a:t>
            </a:r>
            <a:r>
              <a:rPr sz="3450" spc="-120" dirty="0">
                <a:latin typeface="Cambria"/>
                <a:cs typeface="Cambria"/>
              </a:rPr>
              <a:t>Designed</a:t>
            </a:r>
            <a:r>
              <a:rPr sz="3450" spc="80" dirty="0">
                <a:latin typeface="Cambria"/>
                <a:cs typeface="Cambria"/>
              </a:rPr>
              <a:t> </a:t>
            </a:r>
            <a:r>
              <a:rPr sz="3450" spc="-110" dirty="0">
                <a:latin typeface="Cambria"/>
                <a:cs typeface="Cambria"/>
              </a:rPr>
              <a:t>for</a:t>
            </a:r>
            <a:r>
              <a:rPr sz="3450" spc="-80" dirty="0">
                <a:latin typeface="Cambria"/>
                <a:cs typeface="Cambria"/>
              </a:rPr>
              <a:t> </a:t>
            </a:r>
            <a:r>
              <a:rPr sz="3450" spc="-150" dirty="0">
                <a:latin typeface="Cambria"/>
                <a:cs typeface="Cambria"/>
              </a:rPr>
              <a:t>modeling</a:t>
            </a:r>
            <a:r>
              <a:rPr sz="3450" spc="-40" dirty="0">
                <a:latin typeface="Cambria"/>
                <a:cs typeface="Cambria"/>
              </a:rPr>
              <a:t> </a:t>
            </a:r>
            <a:r>
              <a:rPr sz="3450" spc="-155" dirty="0">
                <a:latin typeface="Cambria"/>
                <a:cs typeface="Cambria"/>
              </a:rPr>
              <a:t>and</a:t>
            </a:r>
            <a:r>
              <a:rPr sz="3450" spc="-45" dirty="0">
                <a:latin typeface="Cambria"/>
                <a:cs typeface="Cambria"/>
              </a:rPr>
              <a:t> </a:t>
            </a:r>
            <a:r>
              <a:rPr sz="3450" spc="-75" dirty="0">
                <a:latin typeface="Cambria"/>
                <a:cs typeface="Cambria"/>
              </a:rPr>
              <a:t>generation.</a:t>
            </a:r>
            <a:endParaRPr sz="3450">
              <a:latin typeface="Cambria"/>
              <a:cs typeface="Cambria"/>
            </a:endParaRPr>
          </a:p>
          <a:p>
            <a:pPr marL="35560" marR="77470" indent="-8255">
              <a:lnSpc>
                <a:spcPts val="3250"/>
              </a:lnSpc>
              <a:spcBef>
                <a:spcPts val="1910"/>
              </a:spcBef>
            </a:pPr>
            <a:r>
              <a:rPr sz="2850" spc="-90" dirty="0">
                <a:latin typeface="Arial MT"/>
                <a:cs typeface="Arial MT"/>
              </a:rPr>
              <a:t>Feature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Detection</a:t>
            </a:r>
            <a:r>
              <a:rPr sz="2850" spc="-195" dirty="0">
                <a:latin typeface="Arial MT"/>
                <a:cs typeface="Arial MT"/>
              </a:rPr>
              <a:t> </a:t>
            </a:r>
            <a:r>
              <a:rPr sz="2850" spc="-190" dirty="0">
                <a:latin typeface="Arial MT"/>
                <a:cs typeface="Arial MT"/>
              </a:rPr>
              <a:t>&amp;</a:t>
            </a:r>
            <a:r>
              <a:rPr sz="2850" spc="-240" dirty="0">
                <a:latin typeface="Arial MT"/>
                <a:cs typeface="Arial MT"/>
              </a:rPr>
              <a:t> </a:t>
            </a:r>
            <a:r>
              <a:rPr sz="2850" spc="-25" dirty="0">
                <a:latin typeface="Arial MT"/>
                <a:cs typeface="Arial MT"/>
              </a:rPr>
              <a:t>Collaborative</a:t>
            </a:r>
            <a:r>
              <a:rPr sz="2850" spc="-17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Filtering:</a:t>
            </a:r>
            <a:r>
              <a:rPr sz="2850" spc="-195" dirty="0">
                <a:latin typeface="Arial MT"/>
                <a:cs typeface="Arial MT"/>
              </a:rPr>
              <a:t> </a:t>
            </a:r>
            <a:r>
              <a:rPr sz="2850" spc="-90" dirty="0">
                <a:latin typeface="Arial MT"/>
                <a:cs typeface="Arial MT"/>
              </a:rPr>
              <a:t>Uncovering</a:t>
            </a:r>
            <a:r>
              <a:rPr sz="2850" spc="-105" dirty="0">
                <a:latin typeface="Arial MT"/>
                <a:cs typeface="Arial MT"/>
              </a:rPr>
              <a:t> </a:t>
            </a:r>
            <a:r>
              <a:rPr sz="2850" spc="-35" dirty="0">
                <a:latin typeface="Arial MT"/>
                <a:cs typeface="Arial MT"/>
              </a:rPr>
              <a:t>hidden</a:t>
            </a:r>
            <a:r>
              <a:rPr sz="2850" spc="-40" dirty="0">
                <a:latin typeface="Arial MT"/>
                <a:cs typeface="Arial MT"/>
              </a:rPr>
              <a:t> structures</a:t>
            </a:r>
            <a:r>
              <a:rPr sz="2850" spc="-1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in</a:t>
            </a:r>
            <a:r>
              <a:rPr sz="2850" spc="-125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data </a:t>
            </a:r>
            <a:r>
              <a:rPr sz="2850" spc="-90" dirty="0">
                <a:latin typeface="Arial MT"/>
                <a:cs typeface="Arial MT"/>
              </a:rPr>
              <a:t>(e.g.,</a:t>
            </a:r>
            <a:r>
              <a:rPr sz="2850" spc="-35" dirty="0">
                <a:latin typeface="Arial MT"/>
                <a:cs typeface="Arial MT"/>
              </a:rPr>
              <a:t> </a:t>
            </a:r>
            <a:r>
              <a:rPr sz="2850" spc="-70" dirty="0">
                <a:latin typeface="Arial MT"/>
                <a:cs typeface="Arial MT"/>
              </a:rPr>
              <a:t>recommendation</a:t>
            </a:r>
            <a:r>
              <a:rPr sz="2850" spc="-13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systems).</a:t>
            </a:r>
            <a:endParaRPr sz="2850">
              <a:latin typeface="Arial MT"/>
              <a:cs typeface="Arial MT"/>
            </a:endParaRPr>
          </a:p>
          <a:p>
            <a:pPr marL="31750" marR="1464310" indent="-8255">
              <a:lnSpc>
                <a:spcPts val="3200"/>
              </a:lnSpc>
              <a:spcBef>
                <a:spcPts val="3240"/>
              </a:spcBef>
            </a:pPr>
            <a:r>
              <a:rPr sz="3100" spc="-195" dirty="0">
                <a:latin typeface="Arial MT"/>
                <a:cs typeface="Arial MT"/>
              </a:rPr>
              <a:t>Generative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145" dirty="0">
                <a:latin typeface="Arial MT"/>
                <a:cs typeface="Arial MT"/>
              </a:rPr>
              <a:t>Modeling: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229" dirty="0">
                <a:latin typeface="Arial MT"/>
                <a:cs typeface="Arial MT"/>
              </a:rPr>
              <a:t>Creating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290" dirty="0">
                <a:latin typeface="Arial MT"/>
                <a:cs typeface="Arial MT"/>
              </a:rPr>
              <a:t>new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215" dirty="0">
                <a:latin typeface="Arial MT"/>
                <a:cs typeface="Arial MT"/>
              </a:rPr>
              <a:t>data</a:t>
            </a:r>
            <a:r>
              <a:rPr sz="3100" spc="50" dirty="0">
                <a:latin typeface="Arial MT"/>
                <a:cs typeface="Arial MT"/>
              </a:rPr>
              <a:t> </a:t>
            </a:r>
            <a:r>
              <a:rPr sz="3100" spc="-285" dirty="0">
                <a:latin typeface="Arial MT"/>
                <a:cs typeface="Arial MT"/>
              </a:rPr>
              <a:t>samples</a:t>
            </a:r>
            <a:r>
              <a:rPr sz="3100" spc="70" dirty="0">
                <a:latin typeface="Arial MT"/>
                <a:cs typeface="Arial MT"/>
              </a:rPr>
              <a:t> </a:t>
            </a:r>
            <a:r>
              <a:rPr sz="3100" spc="-220" dirty="0">
                <a:latin typeface="Arial MT"/>
                <a:cs typeface="Arial MT"/>
              </a:rPr>
              <a:t>(e.g.,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190" dirty="0">
                <a:latin typeface="Arial MT"/>
                <a:cs typeface="Arial MT"/>
              </a:rPr>
              <a:t>character</a:t>
            </a:r>
            <a:r>
              <a:rPr sz="3100" spc="254" dirty="0">
                <a:latin typeface="Arial MT"/>
                <a:cs typeface="Arial MT"/>
              </a:rPr>
              <a:t> </a:t>
            </a:r>
            <a:r>
              <a:rPr sz="3100" spc="-235" dirty="0">
                <a:latin typeface="Arial MT"/>
                <a:cs typeface="Arial MT"/>
              </a:rPr>
              <a:t>or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face </a:t>
            </a:r>
            <a:r>
              <a:rPr sz="3100" spc="-100" dirty="0">
                <a:latin typeface="Arial MT"/>
                <a:cs typeface="Arial MT"/>
              </a:rPr>
              <a:t>recognition).</a:t>
            </a:r>
            <a:endParaRPr sz="3100">
              <a:latin typeface="Arial MT"/>
              <a:cs typeface="Arial MT"/>
            </a:endParaRPr>
          </a:p>
          <a:p>
            <a:pPr marL="30480" marR="1603375" indent="-18415">
              <a:lnSpc>
                <a:spcPts val="3200"/>
              </a:lnSpc>
              <a:spcBef>
                <a:spcPts val="2200"/>
              </a:spcBef>
            </a:pPr>
            <a:r>
              <a:rPr sz="3100" spc="-180" dirty="0">
                <a:latin typeface="Arial MT"/>
                <a:cs typeface="Arial MT"/>
              </a:rPr>
              <a:t>Foundation</a:t>
            </a:r>
            <a:r>
              <a:rPr sz="3100" spc="105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for</a:t>
            </a:r>
            <a:r>
              <a:rPr sz="3100" spc="-290" dirty="0">
                <a:latin typeface="Arial MT"/>
                <a:cs typeface="Arial MT"/>
              </a:rPr>
              <a:t> </a:t>
            </a:r>
            <a:r>
              <a:rPr sz="3100" spc="-250" dirty="0">
                <a:latin typeface="Arial MT"/>
                <a:cs typeface="Arial MT"/>
              </a:rPr>
              <a:t>Deep</a:t>
            </a:r>
            <a:r>
              <a:rPr sz="3100" spc="-245" dirty="0">
                <a:latin typeface="Arial MT"/>
                <a:cs typeface="Arial MT"/>
              </a:rPr>
              <a:t> </a:t>
            </a:r>
            <a:r>
              <a:rPr sz="3100" spc="-180" dirty="0">
                <a:latin typeface="Arial MT"/>
                <a:cs typeface="Arial MT"/>
              </a:rPr>
              <a:t>Learning: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285" dirty="0">
                <a:latin typeface="Arial MT"/>
                <a:cs typeface="Arial MT"/>
              </a:rPr>
              <a:t>Served</a:t>
            </a:r>
            <a:r>
              <a:rPr sz="3100" spc="55" dirty="0">
                <a:latin typeface="Arial MT"/>
                <a:cs typeface="Arial MT"/>
              </a:rPr>
              <a:t> </a:t>
            </a:r>
            <a:r>
              <a:rPr sz="3100" spc="-330" dirty="0">
                <a:latin typeface="Arial MT"/>
                <a:cs typeface="Arial MT"/>
              </a:rPr>
              <a:t>as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00" dirty="0">
                <a:latin typeface="Arial MT"/>
                <a:cs typeface="Arial MT"/>
              </a:rPr>
              <a:t>the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195" dirty="0">
                <a:latin typeface="Arial MT"/>
                <a:cs typeface="Arial MT"/>
              </a:rPr>
              <a:t>building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204" dirty="0">
                <a:latin typeface="Arial MT"/>
                <a:cs typeface="Arial MT"/>
              </a:rPr>
              <a:t>blocks</a:t>
            </a:r>
            <a:r>
              <a:rPr sz="3100" dirty="0">
                <a:latin typeface="Arial MT"/>
                <a:cs typeface="Arial MT"/>
              </a:rPr>
              <a:t> </a:t>
            </a:r>
            <a:r>
              <a:rPr sz="3100" spc="-145" dirty="0">
                <a:latin typeface="Arial MT"/>
                <a:cs typeface="Arial MT"/>
              </a:rPr>
              <a:t>for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280" dirty="0">
                <a:latin typeface="Arial MT"/>
                <a:cs typeface="Arial MT"/>
              </a:rPr>
              <a:t>modern </a:t>
            </a:r>
            <a:r>
              <a:rPr sz="3100" spc="-165" dirty="0">
                <a:latin typeface="Arial MT"/>
                <a:cs typeface="Arial MT"/>
              </a:rPr>
              <a:t>architectures</a:t>
            </a:r>
            <a:r>
              <a:rPr sz="3100" spc="105" dirty="0">
                <a:latin typeface="Arial MT"/>
                <a:cs typeface="Arial MT"/>
              </a:rPr>
              <a:t> </a:t>
            </a:r>
            <a:r>
              <a:rPr sz="3100" spc="-210" dirty="0">
                <a:latin typeface="Arial MT"/>
                <a:cs typeface="Arial MT"/>
              </a:rPr>
              <a:t>like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spc="-305" dirty="0">
                <a:latin typeface="Arial MT"/>
                <a:cs typeface="Arial MT"/>
              </a:rPr>
              <a:t>Deep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225" dirty="0">
                <a:latin typeface="Arial MT"/>
                <a:cs typeface="Arial MT"/>
              </a:rPr>
              <a:t>Belief</a:t>
            </a:r>
            <a:r>
              <a:rPr sz="3100" spc="2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Networks.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1300" y="33760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1818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40800" y="33760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1818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166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25"/>
              </a:spcBef>
            </a:pPr>
            <a:r>
              <a:rPr spc="-295" dirty="0"/>
              <a:t>The</a:t>
            </a:r>
            <a:r>
              <a:rPr spc="-55" dirty="0"/>
              <a:t> </a:t>
            </a:r>
            <a:r>
              <a:rPr spc="-365" dirty="0"/>
              <a:t>Legacy:</a:t>
            </a:r>
            <a:r>
              <a:rPr spc="15" dirty="0"/>
              <a:t> </a:t>
            </a:r>
            <a:r>
              <a:rPr spc="-340" dirty="0"/>
              <a:t>From</a:t>
            </a:r>
            <a:r>
              <a:rPr spc="-10" dirty="0"/>
              <a:t> </a:t>
            </a:r>
            <a:r>
              <a:rPr spc="-300" dirty="0"/>
              <a:t>Energy</a:t>
            </a:r>
            <a:r>
              <a:rPr spc="-35" dirty="0"/>
              <a:t> </a:t>
            </a:r>
            <a:r>
              <a:rPr spc="-200" dirty="0"/>
              <a:t>Landscapes</a:t>
            </a:r>
            <a:r>
              <a:rPr spc="195" dirty="0"/>
              <a:t> </a:t>
            </a:r>
            <a:r>
              <a:rPr dirty="0"/>
              <a:t>to</a:t>
            </a:r>
            <a:r>
              <a:rPr spc="-170" dirty="0"/>
              <a:t> </a:t>
            </a:r>
            <a:r>
              <a:rPr spc="-385" dirty="0"/>
              <a:t>Deeq</a:t>
            </a:r>
            <a:r>
              <a:rPr spc="160" dirty="0"/>
              <a:t> </a:t>
            </a:r>
            <a:r>
              <a:rPr spc="-165" dirty="0"/>
              <a:t>Learning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  <a:tabLst>
                <a:tab pos="262255" algn="l"/>
              </a:tabLst>
            </a:pPr>
            <a:r>
              <a:rPr spc="-50" dirty="0"/>
              <a:t>G</a:t>
            </a:r>
            <a:r>
              <a:rPr dirty="0"/>
              <a:t>	</a:t>
            </a:r>
            <a:r>
              <a:rPr spc="-10" dirty="0"/>
              <a:t>NotebookLM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4671" y="2149475"/>
            <a:ext cx="16228694" cy="56661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5875" marR="748665" indent="-3810">
              <a:lnSpc>
                <a:spcPts val="3700"/>
              </a:lnSpc>
              <a:spcBef>
                <a:spcPts val="265"/>
              </a:spcBef>
              <a:tabLst>
                <a:tab pos="2226310" algn="l"/>
                <a:tab pos="8407400" algn="l"/>
              </a:tabLst>
            </a:pPr>
            <a:r>
              <a:rPr sz="3100" spc="-85" dirty="0">
                <a:latin typeface="Arial MT"/>
                <a:cs typeface="Arial MT"/>
              </a:rPr>
              <a:t>Summary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Journey: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The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spc="-40" dirty="0">
                <a:solidFill>
                  <a:srgbClr val="5B5B5B"/>
                </a:solidFill>
                <a:latin typeface="Arial MT"/>
                <a:cs typeface="Arial MT"/>
              </a:rPr>
              <a:t>Hopfield</a:t>
            </a:r>
            <a:r>
              <a:rPr sz="3100" spc="-95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3100" spc="-50" dirty="0">
                <a:solidFill>
                  <a:srgbClr val="59697C"/>
                </a:solidFill>
                <a:latin typeface="Arial MT"/>
                <a:cs typeface="Arial MT"/>
              </a:rPr>
              <a:t>Network</a:t>
            </a:r>
            <a:r>
              <a:rPr sz="3100" spc="25" dirty="0">
                <a:solidFill>
                  <a:srgbClr val="59697C"/>
                </a:solidFill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pioneered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30" dirty="0">
                <a:latin typeface="Arial MT"/>
                <a:cs typeface="Arial MT"/>
              </a:rPr>
              <a:t>powerful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paradigm</a:t>
            </a:r>
            <a:r>
              <a:rPr sz="3100" spc="-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using </a:t>
            </a:r>
            <a:r>
              <a:rPr sz="3100" spc="-70" dirty="0">
                <a:latin typeface="Arial MT"/>
                <a:cs typeface="Arial MT"/>
              </a:rPr>
              <a:t>energy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functions</a:t>
            </a:r>
            <a:r>
              <a:rPr sz="3100" spc="-1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computation,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55" dirty="0">
                <a:latin typeface="Arial MT"/>
                <a:cs typeface="Arial MT"/>
              </a:rPr>
              <a:t>giving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us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260" dirty="0">
                <a:latin typeface="Arial MT"/>
                <a:cs typeface="Arial MT"/>
              </a:rPr>
              <a:t>a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model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content-</a:t>
            </a:r>
            <a:r>
              <a:rPr sz="3100" spc="-45" dirty="0">
                <a:latin typeface="Arial MT"/>
                <a:cs typeface="Arial MT"/>
              </a:rPr>
              <a:t>addressable</a:t>
            </a:r>
            <a:r>
              <a:rPr sz="3100" spc="-290" dirty="0">
                <a:latin typeface="Arial MT"/>
                <a:cs typeface="Arial MT"/>
              </a:rPr>
              <a:t> </a:t>
            </a:r>
            <a:r>
              <a:rPr sz="3100" spc="-120" dirty="0">
                <a:latin typeface="Arial MT"/>
                <a:cs typeface="Arial MT"/>
              </a:rPr>
              <a:t>memory.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Its </a:t>
            </a:r>
            <a:r>
              <a:rPr sz="3100" spc="-10" dirty="0">
                <a:latin typeface="Arial MT"/>
                <a:cs typeface="Arial MT"/>
              </a:rPr>
              <a:t>limitations</a:t>
            </a:r>
            <a:r>
              <a:rPr sz="3100" dirty="0">
                <a:latin typeface="Arial MT"/>
                <a:cs typeface="Arial MT"/>
              </a:rPr>
              <a:t>	</a:t>
            </a:r>
            <a:r>
              <a:rPr sz="3100" spc="-55" dirty="0">
                <a:latin typeface="Arial MT"/>
                <a:cs typeface="Arial MT"/>
              </a:rPr>
              <a:t>spurious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minima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and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low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capacity</a:t>
            </a:r>
            <a:r>
              <a:rPr sz="3100" dirty="0">
                <a:latin typeface="Arial MT"/>
                <a:cs typeface="Arial MT"/>
              </a:rPr>
              <a:t>	</a:t>
            </a:r>
            <a:r>
              <a:rPr sz="3100" spc="-40" dirty="0">
                <a:latin typeface="Arial MT"/>
                <a:cs typeface="Arial MT"/>
              </a:rPr>
              <a:t>created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the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need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260" dirty="0">
                <a:latin typeface="Arial MT"/>
                <a:cs typeface="Arial MT"/>
              </a:rPr>
              <a:t>a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100" dirty="0">
                <a:latin typeface="Arial MT"/>
                <a:cs typeface="Arial MT"/>
              </a:rPr>
              <a:t>more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robust </a:t>
            </a:r>
            <a:r>
              <a:rPr sz="3100" spc="-75" dirty="0">
                <a:latin typeface="Arial MT"/>
                <a:cs typeface="Arial MT"/>
              </a:rPr>
              <a:t>approach.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170" dirty="0">
                <a:latin typeface="Arial MT"/>
                <a:cs typeface="Arial MT"/>
              </a:rPr>
              <a:t>The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65" dirty="0">
                <a:solidFill>
                  <a:srgbClr val="596B7E"/>
                </a:solidFill>
                <a:latin typeface="Arial MT"/>
                <a:cs typeface="Arial MT"/>
              </a:rPr>
              <a:t>Boltzmann</a:t>
            </a:r>
            <a:r>
              <a:rPr sz="3100" spc="-150" dirty="0">
                <a:solidFill>
                  <a:srgbClr val="596B7E"/>
                </a:solidFill>
                <a:latin typeface="Arial MT"/>
                <a:cs typeface="Arial MT"/>
              </a:rPr>
              <a:t> </a:t>
            </a:r>
            <a:r>
              <a:rPr sz="3100" spc="-40" dirty="0">
                <a:solidFill>
                  <a:srgbClr val="50677E"/>
                </a:solidFill>
                <a:latin typeface="Arial MT"/>
                <a:cs typeface="Arial MT"/>
              </a:rPr>
              <a:t>Machine's</a:t>
            </a:r>
            <a:r>
              <a:rPr sz="3100" spc="-175" dirty="0">
                <a:solidFill>
                  <a:srgbClr val="50677E"/>
                </a:solidFill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innovations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stochasticity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and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hidden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units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solved </a:t>
            </a:r>
            <a:r>
              <a:rPr sz="3100" spc="-70" dirty="0">
                <a:latin typeface="Arial MT"/>
                <a:cs typeface="Arial MT"/>
              </a:rPr>
              <a:t>these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spc="-75" dirty="0">
                <a:latin typeface="Arial MT"/>
                <a:cs typeface="Arial MT"/>
              </a:rPr>
              <a:t>problems,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shifting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100" dirty="0">
                <a:latin typeface="Arial MT"/>
                <a:cs typeface="Arial MT"/>
              </a:rPr>
              <a:t>goal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from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simple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110" dirty="0">
                <a:latin typeface="Arial MT"/>
                <a:cs typeface="Arial MT"/>
              </a:rPr>
              <a:t>memory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recall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185" dirty="0"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complex,</a:t>
            </a:r>
            <a:r>
              <a:rPr sz="3100" spc="-114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generative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modeling </a:t>
            </a:r>
            <a:r>
              <a:rPr sz="3250" spc="-10" dirty="0">
                <a:latin typeface="Arial MT"/>
                <a:cs typeface="Arial MT"/>
              </a:rPr>
              <a:t>of</a:t>
            </a:r>
            <a:r>
              <a:rPr sz="3250" spc="-215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data.</a:t>
            </a:r>
            <a:endParaRPr sz="3250">
              <a:latin typeface="Arial MT"/>
              <a:cs typeface="Arial MT"/>
            </a:endParaRPr>
          </a:p>
          <a:p>
            <a:pPr marL="20955">
              <a:lnSpc>
                <a:spcPts val="3520"/>
              </a:lnSpc>
            </a:pPr>
            <a:r>
              <a:rPr sz="3100" spc="-100" dirty="0">
                <a:latin typeface="Arial MT"/>
                <a:cs typeface="Arial MT"/>
              </a:rPr>
              <a:t>The</a:t>
            </a:r>
            <a:r>
              <a:rPr sz="3100" spc="-23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Lasting</a:t>
            </a:r>
            <a:r>
              <a:rPr sz="3100" spc="-2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Impact:</a:t>
            </a:r>
            <a:r>
              <a:rPr sz="3100" spc="-220" dirty="0">
                <a:latin typeface="Arial MT"/>
                <a:cs typeface="Arial MT"/>
              </a:rPr>
              <a:t> </a:t>
            </a:r>
            <a:r>
              <a:rPr sz="3100" spc="-105" dirty="0">
                <a:latin typeface="Arial MT"/>
                <a:cs typeface="Arial MT"/>
              </a:rPr>
              <a:t>This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evolutionary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step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was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crucial.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130" dirty="0">
                <a:latin typeface="Arial MT"/>
                <a:cs typeface="Arial MT"/>
              </a:rPr>
              <a:t>The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principles</a:t>
            </a:r>
            <a:r>
              <a:rPr sz="3100" spc="85" dirty="0">
                <a:latin typeface="Arial MT"/>
                <a:cs typeface="Arial MT"/>
              </a:rPr>
              <a:t> </a:t>
            </a:r>
            <a:r>
              <a:rPr sz="3100" spc="-100" dirty="0">
                <a:latin typeface="Arial MT"/>
                <a:cs typeface="Arial MT"/>
              </a:rPr>
              <a:t>developed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for</a:t>
            </a:r>
            <a:endParaRPr sz="3100">
              <a:latin typeface="Arial MT"/>
              <a:cs typeface="Arial MT"/>
            </a:endParaRPr>
          </a:p>
          <a:p>
            <a:pPr marL="13335">
              <a:lnSpc>
                <a:spcPts val="3735"/>
              </a:lnSpc>
            </a:pPr>
            <a:r>
              <a:rPr sz="3200" spc="-160" dirty="0">
                <a:latin typeface="Arial MT"/>
                <a:cs typeface="Arial MT"/>
              </a:rPr>
              <a:t>Boltzmann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70" dirty="0">
                <a:latin typeface="Arial MT"/>
                <a:cs typeface="Arial MT"/>
              </a:rPr>
              <a:t>Machines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95" dirty="0">
                <a:latin typeface="Arial MT"/>
                <a:cs typeface="Arial MT"/>
              </a:rPr>
              <a:t>laid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the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70" dirty="0">
                <a:latin typeface="Arial MT"/>
                <a:cs typeface="Arial MT"/>
              </a:rPr>
              <a:t>theoretical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groundwork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45" dirty="0">
                <a:latin typeface="Arial MT"/>
                <a:cs typeface="Arial MT"/>
              </a:rPr>
              <a:t>for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145" dirty="0">
                <a:latin typeface="Arial MT"/>
                <a:cs typeface="Arial MT"/>
              </a:rPr>
              <a:t>modern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10" dirty="0">
                <a:latin typeface="Arial MT"/>
                <a:cs typeface="Arial MT"/>
              </a:rPr>
              <a:t>generative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models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190" dirty="0">
                <a:latin typeface="Arial MT"/>
                <a:cs typeface="Arial MT"/>
              </a:rPr>
              <a:t>and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40" dirty="0">
                <a:latin typeface="Arial MT"/>
                <a:cs typeface="Arial MT"/>
              </a:rPr>
              <a:t>the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rise</a:t>
            </a:r>
            <a:endParaRPr sz="3200">
              <a:latin typeface="Arial MT"/>
              <a:cs typeface="Arial MT"/>
            </a:endParaRPr>
          </a:p>
          <a:p>
            <a:pPr marL="16510">
              <a:lnSpc>
                <a:spcPts val="3640"/>
              </a:lnSpc>
            </a:pPr>
            <a:r>
              <a:rPr sz="3100" spc="-70" dirty="0">
                <a:latin typeface="Arial MT"/>
                <a:cs typeface="Arial MT"/>
              </a:rPr>
              <a:t>deep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learning.</a:t>
            </a:r>
            <a:endParaRPr sz="3100">
              <a:latin typeface="Arial MT"/>
              <a:cs typeface="Arial MT"/>
            </a:endParaRPr>
          </a:p>
          <a:p>
            <a:pPr marL="20955">
              <a:lnSpc>
                <a:spcPts val="3785"/>
              </a:lnSpc>
            </a:pPr>
            <a:r>
              <a:rPr sz="3200" spc="-155" dirty="0">
                <a:latin typeface="Arial MT"/>
                <a:cs typeface="Arial MT"/>
              </a:rPr>
              <a:t>The</a:t>
            </a:r>
            <a:r>
              <a:rPr sz="3200" spc="-215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Lasting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Impact: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This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evolutionary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step </a:t>
            </a:r>
            <a:r>
              <a:rPr sz="3200" spc="-215" dirty="0">
                <a:latin typeface="Arial MT"/>
                <a:cs typeface="Arial MT"/>
              </a:rPr>
              <a:t>was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crucial.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204" dirty="0">
                <a:latin typeface="Arial MT"/>
                <a:cs typeface="Arial MT"/>
              </a:rPr>
              <a:t>The</a:t>
            </a:r>
            <a:r>
              <a:rPr sz="3200" spc="-125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principles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140" dirty="0">
                <a:latin typeface="Arial MT"/>
                <a:cs typeface="Arial MT"/>
              </a:rPr>
              <a:t>developed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for</a:t>
            </a:r>
            <a:endParaRPr sz="3200">
              <a:latin typeface="Arial MT"/>
              <a:cs typeface="Arial MT"/>
            </a:endParaRPr>
          </a:p>
          <a:p>
            <a:pPr marL="13970">
              <a:lnSpc>
                <a:spcPts val="3615"/>
              </a:lnSpc>
            </a:pPr>
            <a:r>
              <a:rPr sz="3100" spc="-125" dirty="0">
                <a:latin typeface="Arial MT"/>
                <a:cs typeface="Arial MT"/>
              </a:rPr>
              <a:t>Boltzmann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spc="-105" dirty="0">
                <a:latin typeface="Arial MT"/>
                <a:cs typeface="Arial MT"/>
              </a:rPr>
              <a:t>Machines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laid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15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theoretical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groundwork</a:t>
            </a:r>
            <a:r>
              <a:rPr sz="3100" spc="114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for</a:t>
            </a:r>
            <a:r>
              <a:rPr sz="3100" spc="-175" dirty="0">
                <a:latin typeface="Arial MT"/>
                <a:cs typeface="Arial MT"/>
              </a:rPr>
              <a:t> </a:t>
            </a:r>
            <a:r>
              <a:rPr sz="3100" spc="-95" dirty="0">
                <a:latin typeface="Arial MT"/>
                <a:cs typeface="Arial MT"/>
              </a:rPr>
              <a:t>modern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95" dirty="0">
                <a:latin typeface="Arial MT"/>
                <a:cs typeface="Arial MT"/>
              </a:rPr>
              <a:t>generative </a:t>
            </a:r>
            <a:r>
              <a:rPr sz="3100" spc="-90" dirty="0">
                <a:latin typeface="Arial MT"/>
                <a:cs typeface="Arial MT"/>
              </a:rPr>
              <a:t>models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145" dirty="0">
                <a:latin typeface="Arial MT"/>
                <a:cs typeface="Arial MT"/>
              </a:rPr>
              <a:t>and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rise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of</a:t>
            </a:r>
            <a:endParaRPr sz="3100">
              <a:latin typeface="Arial MT"/>
              <a:cs typeface="Arial MT"/>
            </a:endParaRPr>
          </a:p>
          <a:p>
            <a:pPr marL="16510">
              <a:lnSpc>
                <a:spcPts val="3754"/>
              </a:lnSpc>
            </a:pPr>
            <a:r>
              <a:rPr sz="3200" spc="-135" dirty="0">
                <a:latin typeface="Arial MT"/>
                <a:cs typeface="Arial MT"/>
              </a:rPr>
              <a:t>deep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learning.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6000" y="6667500"/>
            <a:ext cx="2146300" cy="2781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5700" y="1879600"/>
            <a:ext cx="723900" cy="647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4263" y="1514122"/>
            <a:ext cx="15330805" cy="1210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487920" algn="l"/>
              </a:tabLst>
            </a:pPr>
            <a:r>
              <a:rPr sz="7750" dirty="0">
                <a:solidFill>
                  <a:srgbClr val="212121"/>
                </a:solidFill>
              </a:rPr>
              <a:t>Source</a:t>
            </a:r>
            <a:r>
              <a:rPr sz="7750" spc="-100" dirty="0">
                <a:solidFill>
                  <a:srgbClr val="212121"/>
                </a:solidFill>
              </a:rPr>
              <a:t> </a:t>
            </a:r>
            <a:r>
              <a:rPr sz="7750" spc="-10" dirty="0">
                <a:solidFill>
                  <a:srgbClr val="212121"/>
                </a:solidFill>
              </a:rPr>
              <a:t>Material</a:t>
            </a:r>
            <a:r>
              <a:rPr sz="7750" dirty="0">
                <a:solidFill>
                  <a:srgbClr val="212121"/>
                </a:solidFill>
              </a:rPr>
              <a:t>	</a:t>
            </a:r>
            <a:r>
              <a:rPr sz="7750" spc="90" dirty="0">
                <a:solidFill>
                  <a:srgbClr val="212121"/>
                </a:solidFill>
              </a:rPr>
              <a:t>Further</a:t>
            </a:r>
            <a:r>
              <a:rPr sz="7750" spc="160" dirty="0">
                <a:solidFill>
                  <a:srgbClr val="212121"/>
                </a:solidFill>
              </a:rPr>
              <a:t> </a:t>
            </a:r>
            <a:r>
              <a:rPr sz="7750" spc="-45" dirty="0">
                <a:solidFill>
                  <a:srgbClr val="232323"/>
                </a:solidFill>
              </a:rPr>
              <a:t>Exploration</a:t>
            </a:r>
            <a:endParaRPr sz="775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5875" marR="5080" indent="635" algn="just">
              <a:lnSpc>
                <a:spcPts val="4700"/>
              </a:lnSpc>
              <a:spcBef>
                <a:spcPts val="160"/>
              </a:spcBef>
            </a:pPr>
            <a:r>
              <a:rPr spc="-160" dirty="0"/>
              <a:t>Sathasivam,</a:t>
            </a:r>
            <a:r>
              <a:rPr spc="235" dirty="0"/>
              <a:t> </a:t>
            </a:r>
            <a:r>
              <a:rPr spc="-240" dirty="0"/>
              <a:t>S.,</a:t>
            </a:r>
            <a:r>
              <a:rPr spc="-15" dirty="0"/>
              <a:t> </a:t>
            </a:r>
            <a:r>
              <a:rPr spc="-385" dirty="0"/>
              <a:t>&amp;</a:t>
            </a:r>
            <a:r>
              <a:rPr spc="-130" dirty="0"/>
              <a:t> </a:t>
            </a:r>
            <a:r>
              <a:rPr spc="-170" dirty="0"/>
              <a:t>Sagir,</a:t>
            </a:r>
            <a:r>
              <a:rPr spc="55" dirty="0"/>
              <a:t> </a:t>
            </a:r>
            <a:r>
              <a:rPr spc="-185" dirty="0"/>
              <a:t>A.</a:t>
            </a:r>
            <a:r>
              <a:rPr spc="-190" dirty="0"/>
              <a:t> </a:t>
            </a:r>
            <a:r>
              <a:rPr spc="-70" dirty="0"/>
              <a:t>M.</a:t>
            </a:r>
            <a:r>
              <a:rPr spc="-20" dirty="0"/>
              <a:t> </a:t>
            </a:r>
            <a:r>
              <a:rPr spc="-160" dirty="0"/>
              <a:t>(2014).</a:t>
            </a:r>
            <a:r>
              <a:rPr spc="170" dirty="0"/>
              <a:t> </a:t>
            </a:r>
            <a:r>
              <a:rPr spc="-260" dirty="0"/>
              <a:t>An</a:t>
            </a:r>
            <a:r>
              <a:rPr spc="-105" dirty="0"/>
              <a:t> </a:t>
            </a:r>
            <a:r>
              <a:rPr spc="-125" dirty="0"/>
              <a:t>Overview</a:t>
            </a:r>
            <a:r>
              <a:rPr spc="140" dirty="0"/>
              <a:t> </a:t>
            </a:r>
            <a:r>
              <a:rPr spc="-85" dirty="0"/>
              <a:t>of</a:t>
            </a:r>
            <a:r>
              <a:rPr spc="140" dirty="0"/>
              <a:t> </a:t>
            </a:r>
            <a:r>
              <a:rPr spc="-95" dirty="0"/>
              <a:t>Hopfield</a:t>
            </a:r>
            <a:r>
              <a:rPr spc="50" dirty="0"/>
              <a:t> </a:t>
            </a:r>
            <a:r>
              <a:rPr spc="-80" dirty="0"/>
              <a:t>Network</a:t>
            </a:r>
            <a:r>
              <a:rPr spc="145" dirty="0"/>
              <a:t> </a:t>
            </a:r>
            <a:r>
              <a:rPr spc="-135" dirty="0"/>
              <a:t>and</a:t>
            </a:r>
            <a:r>
              <a:rPr spc="-70" dirty="0"/>
              <a:t> </a:t>
            </a:r>
            <a:r>
              <a:rPr spc="-145" dirty="0"/>
              <a:t>Boltzmann</a:t>
            </a:r>
            <a:r>
              <a:rPr spc="160" dirty="0"/>
              <a:t> </a:t>
            </a:r>
            <a:r>
              <a:rPr spc="-140" dirty="0"/>
              <a:t>Machine.</a:t>
            </a:r>
            <a:r>
              <a:rPr spc="175" dirty="0"/>
              <a:t> </a:t>
            </a:r>
            <a:r>
              <a:rPr spc="-105" dirty="0"/>
              <a:t>International</a:t>
            </a:r>
            <a:r>
              <a:rPr spc="240" dirty="0"/>
              <a:t> </a:t>
            </a:r>
            <a:r>
              <a:rPr spc="-130" dirty="0"/>
              <a:t>Journal</a:t>
            </a:r>
            <a:r>
              <a:rPr spc="175" dirty="0"/>
              <a:t> </a:t>
            </a:r>
            <a:r>
              <a:rPr spc="-130" dirty="0"/>
              <a:t>of</a:t>
            </a:r>
            <a:r>
              <a:rPr spc="50" dirty="0"/>
              <a:t> </a:t>
            </a:r>
            <a:r>
              <a:rPr spc="-140" dirty="0"/>
              <a:t>Computational</a:t>
            </a:r>
            <a:r>
              <a:rPr spc="395" dirty="0"/>
              <a:t> </a:t>
            </a:r>
            <a:r>
              <a:rPr spc="-135" dirty="0"/>
              <a:t>and</a:t>
            </a:r>
            <a:r>
              <a:rPr spc="-110" dirty="0"/>
              <a:t> </a:t>
            </a:r>
            <a:r>
              <a:rPr spc="-120" dirty="0"/>
              <a:t>Electronics</a:t>
            </a:r>
            <a:r>
              <a:rPr spc="-75" dirty="0"/>
              <a:t> </a:t>
            </a:r>
            <a:r>
              <a:rPr spc="-100" dirty="0"/>
              <a:t>Aspects</a:t>
            </a:r>
            <a:r>
              <a:rPr spc="75" dirty="0"/>
              <a:t> </a:t>
            </a:r>
            <a:r>
              <a:rPr spc="-5" dirty="0"/>
              <a:t>i</a:t>
            </a:r>
            <a:r>
              <a:rPr dirty="0"/>
              <a:t>n</a:t>
            </a:r>
            <a:r>
              <a:rPr spc="-180" dirty="0"/>
              <a:t> </a:t>
            </a:r>
            <a:r>
              <a:rPr spc="-120" dirty="0"/>
              <a:t>Engineering</a:t>
            </a:r>
            <a:r>
              <a:rPr spc="355" dirty="0"/>
              <a:t> </a:t>
            </a:r>
            <a:r>
              <a:rPr spc="-229" dirty="0"/>
              <a:t>(IJCEAE),</a:t>
            </a:r>
            <a:r>
              <a:rPr spc="-160" dirty="0"/>
              <a:t> </a:t>
            </a:r>
            <a:r>
              <a:rPr spc="-204" dirty="0"/>
              <a:t>1(1),</a:t>
            </a:r>
            <a:r>
              <a:rPr spc="215" dirty="0"/>
              <a:t> </a:t>
            </a:r>
            <a:r>
              <a:rPr spc="-45" dirty="0"/>
              <a:t>20-26.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pc="-45" dirty="0"/>
          </a:p>
          <a:p>
            <a:pPr marL="12700" marR="1691005">
              <a:lnSpc>
                <a:spcPct val="103099"/>
              </a:lnSpc>
            </a:pPr>
            <a:r>
              <a:rPr spc="-75" dirty="0"/>
              <a:t>Hinton,</a:t>
            </a:r>
            <a:r>
              <a:rPr spc="-190" dirty="0"/>
              <a:t> </a:t>
            </a:r>
            <a:r>
              <a:rPr spc="-240" dirty="0"/>
              <a:t>G.,</a:t>
            </a:r>
            <a:r>
              <a:rPr spc="-70" dirty="0"/>
              <a:t> </a:t>
            </a:r>
            <a:r>
              <a:rPr dirty="0"/>
              <a:t>et</a:t>
            </a:r>
            <a:r>
              <a:rPr spc="-260" dirty="0"/>
              <a:t> </a:t>
            </a:r>
            <a:r>
              <a:rPr spc="-100" dirty="0"/>
              <a:t>al.</a:t>
            </a:r>
            <a:r>
              <a:rPr spc="-165" dirty="0"/>
              <a:t> </a:t>
            </a:r>
            <a:r>
              <a:rPr spc="-135" dirty="0"/>
              <a:t>Neural</a:t>
            </a:r>
            <a:r>
              <a:rPr spc="-125" dirty="0"/>
              <a:t> </a:t>
            </a:r>
            <a:r>
              <a:rPr spc="-40" dirty="0"/>
              <a:t>Networks</a:t>
            </a:r>
            <a:r>
              <a:rPr spc="-16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spc="-114" dirty="0"/>
              <a:t>Machine</a:t>
            </a:r>
            <a:r>
              <a:rPr spc="-60" dirty="0"/>
              <a:t> </a:t>
            </a:r>
            <a:r>
              <a:rPr spc="-100" dirty="0"/>
              <a:t>Learning,</a:t>
            </a:r>
            <a:r>
              <a:rPr spc="-35" dirty="0"/>
              <a:t> </a:t>
            </a:r>
            <a:r>
              <a:rPr spc="-105" dirty="0"/>
              <a:t>Lecture</a:t>
            </a:r>
            <a:r>
              <a:rPr spc="-155" dirty="0"/>
              <a:t> </a:t>
            </a:r>
            <a:r>
              <a:rPr spc="-400" dirty="0"/>
              <a:t>11: </a:t>
            </a:r>
            <a:r>
              <a:rPr spc="-60" dirty="0"/>
              <a:t>Hopfield</a:t>
            </a:r>
            <a:r>
              <a:rPr spc="-204" dirty="0"/>
              <a:t> </a:t>
            </a:r>
            <a:r>
              <a:rPr spc="-40" dirty="0"/>
              <a:t>Nets</a:t>
            </a:r>
            <a:r>
              <a:rPr spc="-220" dirty="0"/>
              <a:t> </a:t>
            </a:r>
            <a:r>
              <a:rPr spc="-165" dirty="0"/>
              <a:t>and</a:t>
            </a:r>
            <a:r>
              <a:rPr spc="-100" dirty="0"/>
              <a:t> </a:t>
            </a:r>
            <a:r>
              <a:rPr spc="-114" dirty="0"/>
              <a:t>Boltzmann</a:t>
            </a:r>
            <a:r>
              <a:rPr spc="-95" dirty="0"/>
              <a:t> </a:t>
            </a:r>
            <a:r>
              <a:rPr spc="-110" dirty="0"/>
              <a:t>Machines.</a:t>
            </a:r>
            <a:r>
              <a:rPr spc="-80" dirty="0"/>
              <a:t> </a:t>
            </a:r>
            <a:r>
              <a:rPr spc="-50" dirty="0"/>
              <a:t>University</a:t>
            </a:r>
            <a:r>
              <a:rPr spc="-6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Toronto.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14255" y="9439980"/>
            <a:ext cx="12287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W</a:t>
            </a:r>
            <a:r>
              <a:rPr sz="1300" spc="3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1593</Words>
  <Application>Microsoft Office PowerPoint</Application>
  <PresentationFormat>Custom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Cambria</vt:lpstr>
      <vt:lpstr>Consolas</vt:lpstr>
      <vt:lpstr>Courier New</vt:lpstr>
      <vt:lpstr>Times New Roman</vt:lpstr>
      <vt:lpstr>Office Theme</vt:lpstr>
      <vt:lpstr>From Memory to Models:</vt:lpstr>
      <vt:lpstr>The Core Idea: Computation as an Energy Landscape</vt:lpstr>
      <vt:lpstr>The Hopfield Network: A Machine for Perfect Recall</vt:lpstr>
      <vt:lpstr>How It Works: Settling into a Stored Memory</vt:lpstr>
      <vt:lpstr>The Challenge: Cracks in the Crystalline Memory</vt:lpstr>
      <vt:lpstr>The Problem of Spurious Minima: Memories That Never Were</vt:lpstr>
      <vt:lpstr>The Capacity Bottleneck: A Strict Limit on Knowledge</vt:lpstr>
      <vt:lpstr>The Evolutionary Leap: Introducing Stochasticity</vt:lpstr>
      <vt:lpstr>Simulated Annealing: A Strategy for Finding the Deepest Truth</vt:lpstr>
      <vt:lpstr>The Second Leap: Hidden Units and the Power of Interpretation</vt:lpstr>
      <vt:lpstr>From Storing Memories to Building Generative Models</vt:lpstr>
      <vt:lpstr>A Tale of Two Networks: A Direct Comparison</vt:lpstr>
      <vt:lpstr>Distinct Tools for Distinct Problems</vt:lpstr>
      <vt:lpstr>The Legacy: From Energy Landscapes to Deeq Learning</vt:lpstr>
      <vt:lpstr>Source Material Further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 ADRAOUI ISMAIL</cp:lastModifiedBy>
  <cp:revision>1</cp:revision>
  <dcterms:created xsi:type="dcterms:W3CDTF">2025-12-11T13:23:28Z</dcterms:created>
  <dcterms:modified xsi:type="dcterms:W3CDTF">2025-12-11T16:32:32Z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2025-12-11T00:00:00Z</vt:filetime>
  </property>
  <property fmtid="{D5CDD505-2E9C-101B-9397-08002B2CF9AE}" pid="3" name="LastSaved">
    <vt:filetime>2025-12-11T00:00:00Z</vt:filetime>
  </property>
</Properties>
</file>